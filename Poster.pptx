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144A"/>
    <a:srgbClr val="4F154A"/>
    <a:srgbClr val="78206E"/>
    <a:srgbClr val="F2CFEE"/>
    <a:srgbClr val="C6C5F1"/>
    <a:srgbClr val="B7BBF1"/>
    <a:srgbClr val="3892CC"/>
    <a:srgbClr val="3186BD"/>
    <a:srgbClr val="DCEAF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2"/>
    <p:restoredTop sz="94690"/>
  </p:normalViewPr>
  <p:slideViewPr>
    <p:cSldViewPr snapToGrid="0">
      <p:cViewPr>
        <p:scale>
          <a:sx n="71" d="100"/>
          <a:sy n="71" d="100"/>
        </p:scale>
        <p:origin x="-5784"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E6644D-90AF-0F47-AA00-BC9A127DC21D}" type="datetimeFigureOut">
              <a:rPr lang="en-US" smtClean="0"/>
              <a:t>8/3/25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92580-941F-C34A-A8BD-1023136D0FA8}" type="slidenum">
              <a:rPr lang="en-US" smtClean="0"/>
              <a:t>‹#›</a:t>
            </a:fld>
            <a:endParaRPr lang="en-US"/>
          </a:p>
        </p:txBody>
      </p:sp>
    </p:spTree>
    <p:extLst>
      <p:ext uri="{BB962C8B-B14F-4D97-AF65-F5344CB8AC3E}">
        <p14:creationId xmlns:p14="http://schemas.microsoft.com/office/powerpoint/2010/main" val="945202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E6644D-90AF-0F47-AA00-BC9A127DC21D}" type="datetimeFigureOut">
              <a:rPr lang="en-US" smtClean="0"/>
              <a:t>8/3/25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92580-941F-C34A-A8BD-1023136D0FA8}" type="slidenum">
              <a:rPr lang="en-US" smtClean="0"/>
              <a:t>‹#›</a:t>
            </a:fld>
            <a:endParaRPr lang="en-US"/>
          </a:p>
        </p:txBody>
      </p:sp>
    </p:spTree>
    <p:extLst>
      <p:ext uri="{BB962C8B-B14F-4D97-AF65-F5344CB8AC3E}">
        <p14:creationId xmlns:p14="http://schemas.microsoft.com/office/powerpoint/2010/main" val="2649477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E6644D-90AF-0F47-AA00-BC9A127DC21D}" type="datetimeFigureOut">
              <a:rPr lang="en-US" smtClean="0"/>
              <a:t>8/3/25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92580-941F-C34A-A8BD-1023136D0FA8}" type="slidenum">
              <a:rPr lang="en-US" smtClean="0"/>
              <a:t>‹#›</a:t>
            </a:fld>
            <a:endParaRPr lang="en-US"/>
          </a:p>
        </p:txBody>
      </p:sp>
    </p:spTree>
    <p:extLst>
      <p:ext uri="{BB962C8B-B14F-4D97-AF65-F5344CB8AC3E}">
        <p14:creationId xmlns:p14="http://schemas.microsoft.com/office/powerpoint/2010/main" val="4009753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E6644D-90AF-0F47-AA00-BC9A127DC21D}" type="datetimeFigureOut">
              <a:rPr lang="en-US" smtClean="0"/>
              <a:t>8/3/25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E92580-941F-C34A-A8BD-1023136D0FA8}" type="slidenum">
              <a:rPr lang="en-US" smtClean="0"/>
              <a:t>‹#›</a:t>
            </a:fld>
            <a:endParaRPr lang="en-US"/>
          </a:p>
        </p:txBody>
      </p:sp>
    </p:spTree>
    <p:extLst>
      <p:ext uri="{BB962C8B-B14F-4D97-AF65-F5344CB8AC3E}">
        <p14:creationId xmlns:p14="http://schemas.microsoft.com/office/powerpoint/2010/main" val="1624858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E6644D-90AF-0F47-AA00-BC9A127DC21D}" type="datetimeFigureOut">
              <a:rPr lang="en-US" smtClean="0"/>
              <a:t>8/3/25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E92580-941F-C34A-A8BD-1023136D0FA8}" type="slidenum">
              <a:rPr lang="en-US" smtClean="0"/>
              <a:t>‹#›</a:t>
            </a:fld>
            <a:endParaRPr lang="en-US"/>
          </a:p>
        </p:txBody>
      </p:sp>
    </p:spTree>
    <p:extLst>
      <p:ext uri="{BB962C8B-B14F-4D97-AF65-F5344CB8AC3E}">
        <p14:creationId xmlns:p14="http://schemas.microsoft.com/office/powerpoint/2010/main" val="301691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E6644D-90AF-0F47-AA00-BC9A127DC21D}" type="datetimeFigureOut">
              <a:rPr lang="en-US" smtClean="0"/>
              <a:t>8/3/25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E92580-941F-C34A-A8BD-1023136D0FA8}" type="slidenum">
              <a:rPr lang="en-US" smtClean="0"/>
              <a:t>‹#›</a:t>
            </a:fld>
            <a:endParaRPr lang="en-US"/>
          </a:p>
        </p:txBody>
      </p:sp>
    </p:spTree>
    <p:extLst>
      <p:ext uri="{BB962C8B-B14F-4D97-AF65-F5344CB8AC3E}">
        <p14:creationId xmlns:p14="http://schemas.microsoft.com/office/powerpoint/2010/main" val="3151092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E6644D-90AF-0F47-AA00-BC9A127DC21D}" type="datetimeFigureOut">
              <a:rPr lang="en-US" smtClean="0"/>
              <a:t>8/3/25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E92580-941F-C34A-A8BD-1023136D0FA8}" type="slidenum">
              <a:rPr lang="en-US" smtClean="0"/>
              <a:t>‹#›</a:t>
            </a:fld>
            <a:endParaRPr lang="en-US"/>
          </a:p>
        </p:txBody>
      </p:sp>
    </p:spTree>
    <p:extLst>
      <p:ext uri="{BB962C8B-B14F-4D97-AF65-F5344CB8AC3E}">
        <p14:creationId xmlns:p14="http://schemas.microsoft.com/office/powerpoint/2010/main" val="1694721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84E6644D-90AF-0F47-AA00-BC9A127DC21D}" type="datetimeFigureOut">
              <a:rPr lang="en-US" smtClean="0"/>
              <a:t>8/3/25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E92580-941F-C34A-A8BD-1023136D0FA8}" type="slidenum">
              <a:rPr lang="en-US" smtClean="0"/>
              <a:t>‹#›</a:t>
            </a:fld>
            <a:endParaRPr lang="en-US"/>
          </a:p>
        </p:txBody>
      </p:sp>
    </p:spTree>
    <p:extLst>
      <p:ext uri="{BB962C8B-B14F-4D97-AF65-F5344CB8AC3E}">
        <p14:creationId xmlns:p14="http://schemas.microsoft.com/office/powerpoint/2010/main" val="3926448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84E6644D-90AF-0F47-AA00-BC9A127DC21D}" type="datetimeFigureOut">
              <a:rPr lang="en-US" smtClean="0"/>
              <a:t>8/3/25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E92580-941F-C34A-A8BD-1023136D0FA8}" type="slidenum">
              <a:rPr lang="en-US" smtClean="0"/>
              <a:t>‹#›</a:t>
            </a:fld>
            <a:endParaRPr lang="en-US"/>
          </a:p>
        </p:txBody>
      </p:sp>
    </p:spTree>
    <p:extLst>
      <p:ext uri="{BB962C8B-B14F-4D97-AF65-F5344CB8AC3E}">
        <p14:creationId xmlns:p14="http://schemas.microsoft.com/office/powerpoint/2010/main" val="2118977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E6644D-90AF-0F47-AA00-BC9A127DC21D}" type="datetimeFigureOut">
              <a:rPr lang="en-US" smtClean="0"/>
              <a:t>8/3/25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92580-941F-C34A-A8BD-1023136D0FA8}" type="slidenum">
              <a:rPr lang="en-US" smtClean="0"/>
              <a:t>‹#›</a:t>
            </a:fld>
            <a:endParaRPr lang="en-US"/>
          </a:p>
        </p:txBody>
      </p:sp>
    </p:spTree>
    <p:extLst>
      <p:ext uri="{BB962C8B-B14F-4D97-AF65-F5344CB8AC3E}">
        <p14:creationId xmlns:p14="http://schemas.microsoft.com/office/powerpoint/2010/main" val="2830250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E6644D-90AF-0F47-AA00-BC9A127DC21D}" type="datetimeFigureOut">
              <a:rPr lang="en-US" smtClean="0"/>
              <a:t>8/3/25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92580-941F-C34A-A8BD-1023136D0FA8}" type="slidenum">
              <a:rPr lang="en-US" smtClean="0"/>
              <a:t>‹#›</a:t>
            </a:fld>
            <a:endParaRPr lang="en-US"/>
          </a:p>
        </p:txBody>
      </p:sp>
    </p:spTree>
    <p:extLst>
      <p:ext uri="{BB962C8B-B14F-4D97-AF65-F5344CB8AC3E}">
        <p14:creationId xmlns:p14="http://schemas.microsoft.com/office/powerpoint/2010/main" val="4242328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84E6644D-90AF-0F47-AA00-BC9A127DC21D}" type="datetimeFigureOut">
              <a:rPr lang="en-US" smtClean="0"/>
              <a:t>8/3/25</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1FE92580-941F-C34A-A8BD-1023136D0FA8}" type="slidenum">
              <a:rPr lang="en-US" smtClean="0"/>
              <a:t>‹#›</a:t>
            </a:fld>
            <a:endParaRPr lang="en-US"/>
          </a:p>
        </p:txBody>
      </p:sp>
    </p:spTree>
    <p:extLst>
      <p:ext uri="{BB962C8B-B14F-4D97-AF65-F5344CB8AC3E}">
        <p14:creationId xmlns:p14="http://schemas.microsoft.com/office/powerpoint/2010/main" val="187221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49020"/>
          </a:schemeClr>
        </a:solidFill>
        <a:effectLst/>
      </p:bgPr>
    </p:bg>
    <p:spTree>
      <p:nvGrpSpPr>
        <p:cNvPr id="1" name=""/>
        <p:cNvGrpSpPr/>
        <p:nvPr/>
      </p:nvGrpSpPr>
      <p:grpSpPr>
        <a:xfrm>
          <a:off x="0" y="0"/>
          <a:ext cx="0" cy="0"/>
          <a:chOff x="0" y="0"/>
          <a:chExt cx="0" cy="0"/>
        </a:xfrm>
      </p:grpSpPr>
      <p:sp>
        <p:nvSpPr>
          <p:cNvPr id="40" name="Title 1">
            <a:extLst>
              <a:ext uri="{FF2B5EF4-FFF2-40B4-BE49-F238E27FC236}">
                <a16:creationId xmlns:a16="http://schemas.microsoft.com/office/drawing/2014/main" id="{8B0DFCCC-B8D9-2FF6-C8D1-EBEEB0BF1582}"/>
              </a:ext>
            </a:extLst>
          </p:cNvPr>
          <p:cNvSpPr txBox="1">
            <a:spLocks/>
          </p:cNvSpPr>
          <p:nvPr/>
        </p:nvSpPr>
        <p:spPr>
          <a:xfrm>
            <a:off x="-255181" y="32351722"/>
            <a:ext cx="44401560" cy="966581"/>
          </a:xfrm>
          <a:prstGeom prst="rect">
            <a:avLst/>
          </a:prstGeom>
          <a:solidFill>
            <a:schemeClr val="accent5">
              <a:lumMod val="75000"/>
            </a:schemeClr>
          </a:solidFill>
        </p:spPr>
        <p:txBody>
          <a:bodyPr vert="horz" lIns="91440" tIns="45720" rIns="91440" bIns="45720" rtlCol="0" anchor="ctr" anchorCtr="0">
            <a:normAutofit fontScale="92500" lnSpcReduction="20000"/>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endParaRPr lang="en-US" sz="8000" dirty="0">
              <a:solidFill>
                <a:schemeClr val="bg1"/>
              </a:solidFill>
              <a:latin typeface="Georgia" panose="02040502050405020303" pitchFamily="18" charset="0"/>
            </a:endParaRPr>
          </a:p>
        </p:txBody>
      </p:sp>
      <p:sp>
        <p:nvSpPr>
          <p:cNvPr id="45" name="Rectangle 44">
            <a:extLst>
              <a:ext uri="{FF2B5EF4-FFF2-40B4-BE49-F238E27FC236}">
                <a16:creationId xmlns:a16="http://schemas.microsoft.com/office/drawing/2014/main" id="{5EEBE7A6-604B-E8BC-F661-71BF19DAECB8}"/>
              </a:ext>
            </a:extLst>
          </p:cNvPr>
          <p:cNvSpPr/>
          <p:nvPr/>
        </p:nvSpPr>
        <p:spPr>
          <a:xfrm>
            <a:off x="-57345" y="150915"/>
            <a:ext cx="44026366" cy="43192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119BC6D5-D3A4-5F87-145A-2F3EE142A400}"/>
              </a:ext>
            </a:extLst>
          </p:cNvPr>
          <p:cNvSpPr txBox="1">
            <a:spLocks/>
          </p:cNvSpPr>
          <p:nvPr/>
        </p:nvSpPr>
        <p:spPr>
          <a:xfrm>
            <a:off x="7621325" y="496156"/>
            <a:ext cx="29659490" cy="4049463"/>
          </a:xfrm>
          <a:prstGeom prst="rect">
            <a:avLst/>
          </a:prstGeom>
          <a:noFill/>
          <a:ln>
            <a:noFill/>
          </a:ln>
        </p:spPr>
        <p:txBody>
          <a:bodyPr vert="horz" lIns="91440" tIns="45720" rIns="91440" bIns="45720" rtlCol="0" anchor="ctr" anchorCtr="0">
            <a:normAutofit/>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r>
              <a:rPr lang="en-US" sz="7500" b="1" dirty="0">
                <a:solidFill>
                  <a:schemeClr val="bg1"/>
                </a:solidFill>
                <a:latin typeface="Georgia" panose="02040502050405020303" pitchFamily="18" charset="0"/>
              </a:rPr>
              <a:t>Reading Between the Abstracts: A Textual Analysis of the Political Impacts on NSF-Funded Research</a:t>
            </a:r>
          </a:p>
          <a:p>
            <a:r>
              <a:rPr lang="en-US" sz="5000" dirty="0">
                <a:solidFill>
                  <a:schemeClr val="bg1"/>
                </a:solidFill>
                <a:latin typeface="Georgia" panose="02040502050405020303" pitchFamily="18" charset="0"/>
              </a:rPr>
              <a:t>Ryan Seely, advised by Dr. Jeffrey Stanton</a:t>
            </a:r>
          </a:p>
          <a:p>
            <a:r>
              <a:rPr lang="en-US" sz="5000" dirty="0">
                <a:solidFill>
                  <a:schemeClr val="bg1"/>
                </a:solidFill>
                <a:latin typeface="Georgia" panose="02040502050405020303" pitchFamily="18" charset="0"/>
              </a:rPr>
              <a:t>School of Information Studies – Research Experience for Undergraduates</a:t>
            </a:r>
          </a:p>
        </p:txBody>
      </p:sp>
      <p:sp>
        <p:nvSpPr>
          <p:cNvPr id="8" name="Title 1">
            <a:extLst>
              <a:ext uri="{FF2B5EF4-FFF2-40B4-BE49-F238E27FC236}">
                <a16:creationId xmlns:a16="http://schemas.microsoft.com/office/drawing/2014/main" id="{0CFCE73F-5C5E-7485-5A7E-E44467D7F2F0}"/>
              </a:ext>
            </a:extLst>
          </p:cNvPr>
          <p:cNvSpPr txBox="1">
            <a:spLocks/>
          </p:cNvSpPr>
          <p:nvPr/>
        </p:nvSpPr>
        <p:spPr>
          <a:xfrm>
            <a:off x="11273272" y="5136873"/>
            <a:ext cx="20578328" cy="26749959"/>
          </a:xfrm>
          <a:prstGeom prst="rect">
            <a:avLst/>
          </a:prstGeom>
          <a:solidFill>
            <a:srgbClr val="F2CFEE">
              <a:alpha val="25098"/>
            </a:srgbClr>
          </a:solidFill>
          <a:ln>
            <a:solidFill>
              <a:schemeClr val="bg1"/>
            </a:solidFill>
          </a:ln>
        </p:spPr>
        <p:txBody>
          <a:bodyPr vert="horz" lIns="91440" tIns="45720" rIns="91440" bIns="45720" rtlCol="0" anchor="t">
            <a:normAutofit/>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pPr algn="l"/>
            <a:endParaRPr lang="en-US" sz="5000" dirty="0">
              <a:latin typeface="Georgia" panose="02040502050405020303" pitchFamily="18" charset="0"/>
            </a:endParaRPr>
          </a:p>
          <a:p>
            <a:pPr algn="l"/>
            <a:endParaRPr lang="en-US" sz="5000" dirty="0">
              <a:latin typeface="Georgia" panose="02040502050405020303" pitchFamily="18" charset="0"/>
            </a:endParaRPr>
          </a:p>
        </p:txBody>
      </p:sp>
      <p:sp>
        <p:nvSpPr>
          <p:cNvPr id="36" name="Title 1">
            <a:extLst>
              <a:ext uri="{FF2B5EF4-FFF2-40B4-BE49-F238E27FC236}">
                <a16:creationId xmlns:a16="http://schemas.microsoft.com/office/drawing/2014/main" id="{EF2300AB-9B2D-CA75-2E05-3FA08DC3E478}"/>
              </a:ext>
            </a:extLst>
          </p:cNvPr>
          <p:cNvSpPr txBox="1">
            <a:spLocks/>
          </p:cNvSpPr>
          <p:nvPr/>
        </p:nvSpPr>
        <p:spPr>
          <a:xfrm>
            <a:off x="604786" y="5152449"/>
            <a:ext cx="10115479" cy="26734382"/>
          </a:xfrm>
          <a:prstGeom prst="rect">
            <a:avLst/>
          </a:prstGeom>
          <a:solidFill>
            <a:srgbClr val="F2CFEE">
              <a:alpha val="25098"/>
            </a:srgbClr>
          </a:solidFill>
          <a:ln>
            <a:solidFill>
              <a:schemeClr val="bg1"/>
            </a:solidFill>
          </a:ln>
        </p:spPr>
        <p:txBody>
          <a:bodyPr vert="horz" lIns="91440" tIns="45720" rIns="91440" bIns="45720" rtlCol="0" anchor="t">
            <a:normAutofit/>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pPr algn="l"/>
            <a:endParaRPr lang="en-US" sz="3350" dirty="0">
              <a:latin typeface="Georgia" panose="02040502050405020303" pitchFamily="18" charset="0"/>
            </a:endParaRPr>
          </a:p>
          <a:p>
            <a:pPr algn="l"/>
            <a:endParaRPr lang="en-US" sz="5000" dirty="0">
              <a:latin typeface="Georgia" panose="02040502050405020303" pitchFamily="18" charset="0"/>
            </a:endParaRPr>
          </a:p>
          <a:p>
            <a:pPr algn="l"/>
            <a:endParaRPr lang="en-US" sz="5000" dirty="0">
              <a:latin typeface="Georgia" panose="02040502050405020303" pitchFamily="18" charset="0"/>
            </a:endParaRPr>
          </a:p>
          <a:p>
            <a:pPr algn="l"/>
            <a:r>
              <a:rPr lang="en-US" sz="5000" b="1" dirty="0">
                <a:latin typeface="Georgia" panose="02040502050405020303" pitchFamily="18" charset="0"/>
              </a:rPr>
              <a:t> </a:t>
            </a:r>
          </a:p>
          <a:p>
            <a:pPr algn="l"/>
            <a:endParaRPr lang="en-US" sz="5000" b="1" dirty="0">
              <a:latin typeface="Georgia" panose="02040502050405020303" pitchFamily="18" charset="0"/>
            </a:endParaRPr>
          </a:p>
          <a:p>
            <a:pPr algn="l"/>
            <a:endParaRPr lang="en-US" sz="5000" b="1" dirty="0">
              <a:latin typeface="Georgia" panose="02040502050405020303" pitchFamily="18" charset="0"/>
            </a:endParaRPr>
          </a:p>
          <a:p>
            <a:pPr algn="l"/>
            <a:endParaRPr lang="en-US" sz="5000" b="1" dirty="0">
              <a:latin typeface="Georgia" panose="02040502050405020303" pitchFamily="18" charset="0"/>
            </a:endParaRPr>
          </a:p>
          <a:p>
            <a:pPr algn="l"/>
            <a:endParaRPr lang="en-US" sz="5000" b="1" dirty="0">
              <a:latin typeface="Georgia" panose="02040502050405020303" pitchFamily="18" charset="0"/>
            </a:endParaRPr>
          </a:p>
          <a:p>
            <a:pPr algn="l"/>
            <a:endParaRPr lang="en-US" sz="5000" b="1" dirty="0">
              <a:latin typeface="Georgia" panose="02040502050405020303" pitchFamily="18" charset="0"/>
            </a:endParaRPr>
          </a:p>
          <a:p>
            <a:pPr algn="l"/>
            <a:endParaRPr lang="en-US" sz="5000" b="1" dirty="0">
              <a:latin typeface="Georgia" panose="02040502050405020303" pitchFamily="18" charset="0"/>
            </a:endParaRPr>
          </a:p>
          <a:p>
            <a:pPr algn="l"/>
            <a:endParaRPr lang="en-US" sz="5000" b="1" dirty="0">
              <a:latin typeface="Georgia" panose="02040502050405020303" pitchFamily="18" charset="0"/>
            </a:endParaRPr>
          </a:p>
          <a:p>
            <a:pPr algn="l"/>
            <a:endParaRPr lang="en-US" sz="5000" b="1" dirty="0">
              <a:latin typeface="Georgia" panose="02040502050405020303" pitchFamily="18" charset="0"/>
            </a:endParaRPr>
          </a:p>
        </p:txBody>
      </p:sp>
      <p:sp>
        <p:nvSpPr>
          <p:cNvPr id="37" name="Title 1">
            <a:extLst>
              <a:ext uri="{FF2B5EF4-FFF2-40B4-BE49-F238E27FC236}">
                <a16:creationId xmlns:a16="http://schemas.microsoft.com/office/drawing/2014/main" id="{9959A9DD-0A47-91A3-0295-D974A142237F}"/>
              </a:ext>
            </a:extLst>
          </p:cNvPr>
          <p:cNvSpPr txBox="1">
            <a:spLocks/>
          </p:cNvSpPr>
          <p:nvPr/>
        </p:nvSpPr>
        <p:spPr>
          <a:xfrm>
            <a:off x="32395884" y="5136873"/>
            <a:ext cx="11079535" cy="26749957"/>
          </a:xfrm>
          <a:prstGeom prst="rect">
            <a:avLst/>
          </a:prstGeom>
          <a:solidFill>
            <a:srgbClr val="F2CFEE">
              <a:alpha val="25098"/>
            </a:srgbClr>
          </a:solidFill>
          <a:ln>
            <a:solidFill>
              <a:schemeClr val="bg1"/>
            </a:solidFill>
          </a:ln>
        </p:spPr>
        <p:txBody>
          <a:bodyPr vert="horz" lIns="91440" tIns="45720" rIns="91440" bIns="45720" rtlCol="0" anchor="t">
            <a:normAutofit/>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pPr algn="l"/>
            <a:endParaRPr lang="en-US" sz="5000" b="1" dirty="0">
              <a:latin typeface="Georgia" panose="02040502050405020303" pitchFamily="18" charset="0"/>
            </a:endParaRPr>
          </a:p>
        </p:txBody>
      </p:sp>
      <p:sp>
        <p:nvSpPr>
          <p:cNvPr id="41" name="Rectangle 40">
            <a:extLst>
              <a:ext uri="{FF2B5EF4-FFF2-40B4-BE49-F238E27FC236}">
                <a16:creationId xmlns:a16="http://schemas.microsoft.com/office/drawing/2014/main" id="{49F0FAEF-C58F-00E6-33CC-7EB81267CCC4}"/>
              </a:ext>
            </a:extLst>
          </p:cNvPr>
          <p:cNvSpPr/>
          <p:nvPr/>
        </p:nvSpPr>
        <p:spPr>
          <a:xfrm>
            <a:off x="-57345" y="4456330"/>
            <a:ext cx="44026366" cy="389677"/>
          </a:xfrm>
          <a:prstGeom prst="rect">
            <a:avLst/>
          </a:prstGeom>
          <a:solidFill>
            <a:srgbClr val="4F15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B960F36-3971-1504-A394-84407FF91DDD}"/>
              </a:ext>
            </a:extLst>
          </p:cNvPr>
          <p:cNvSpPr/>
          <p:nvPr/>
        </p:nvSpPr>
        <p:spPr>
          <a:xfrm>
            <a:off x="-255181" y="32227561"/>
            <a:ext cx="44401560" cy="197919"/>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a:extLst>
              <a:ext uri="{FF2B5EF4-FFF2-40B4-BE49-F238E27FC236}">
                <a16:creationId xmlns:a16="http://schemas.microsoft.com/office/drawing/2014/main" id="{4F454718-2952-6D0B-75AC-D351578FB2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807" y="647109"/>
            <a:ext cx="6350000" cy="356870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descr="A blue globe with white text&#10;&#10;AI-generated content may be incorrect.">
            <a:extLst>
              <a:ext uri="{FF2B5EF4-FFF2-40B4-BE49-F238E27FC236}">
                <a16:creationId xmlns:a16="http://schemas.microsoft.com/office/drawing/2014/main" id="{D749128D-2143-1060-403A-94C5400D0B8F}"/>
              </a:ext>
            </a:extLst>
          </p:cNvPr>
          <p:cNvPicPr>
            <a:picLocks noChangeAspect="1"/>
          </p:cNvPicPr>
          <p:nvPr/>
        </p:nvPicPr>
        <p:blipFill>
          <a:blip r:embed="rId3"/>
          <a:stretch>
            <a:fillRect/>
          </a:stretch>
        </p:blipFill>
        <p:spPr>
          <a:xfrm>
            <a:off x="36972292" y="509699"/>
            <a:ext cx="5931356" cy="3843519"/>
          </a:xfrm>
          <a:prstGeom prst="rect">
            <a:avLst/>
          </a:prstGeom>
        </p:spPr>
      </p:pic>
      <p:sp>
        <p:nvSpPr>
          <p:cNvPr id="54" name="TextBox 53">
            <a:extLst>
              <a:ext uri="{FF2B5EF4-FFF2-40B4-BE49-F238E27FC236}">
                <a16:creationId xmlns:a16="http://schemas.microsoft.com/office/drawing/2014/main" id="{1677F278-86CF-8EBD-90AC-499920E2788D}"/>
              </a:ext>
            </a:extLst>
          </p:cNvPr>
          <p:cNvSpPr txBox="1"/>
          <p:nvPr/>
        </p:nvSpPr>
        <p:spPr>
          <a:xfrm>
            <a:off x="587342" y="5136388"/>
            <a:ext cx="10106756" cy="861774"/>
          </a:xfrm>
          <a:prstGeom prst="rect">
            <a:avLst/>
          </a:prstGeom>
          <a:solidFill>
            <a:srgbClr val="78206E"/>
          </a:solidFill>
        </p:spPr>
        <p:txBody>
          <a:bodyPr wrap="square" rtlCol="0" anchor="ctr">
            <a:spAutoFit/>
          </a:bodyPr>
          <a:lstStyle/>
          <a:p>
            <a:pPr algn="ctr"/>
            <a:r>
              <a:rPr lang="en-US" sz="5000" b="1" dirty="0">
                <a:solidFill>
                  <a:schemeClr val="bg1"/>
                </a:solidFill>
                <a:latin typeface="Georgia" panose="02040502050405020303" pitchFamily="18" charset="0"/>
              </a:rPr>
              <a:t>Context</a:t>
            </a:r>
          </a:p>
        </p:txBody>
      </p:sp>
      <p:sp>
        <p:nvSpPr>
          <p:cNvPr id="55" name="TextBox 54">
            <a:extLst>
              <a:ext uri="{FF2B5EF4-FFF2-40B4-BE49-F238E27FC236}">
                <a16:creationId xmlns:a16="http://schemas.microsoft.com/office/drawing/2014/main" id="{59D41AD2-4876-2230-013D-B2BCC00ED528}"/>
              </a:ext>
            </a:extLst>
          </p:cNvPr>
          <p:cNvSpPr txBox="1"/>
          <p:nvPr/>
        </p:nvSpPr>
        <p:spPr>
          <a:xfrm>
            <a:off x="11281995" y="5136388"/>
            <a:ext cx="20578328" cy="861774"/>
          </a:xfrm>
          <a:prstGeom prst="rect">
            <a:avLst/>
          </a:prstGeom>
          <a:solidFill>
            <a:srgbClr val="78206E"/>
          </a:solidFill>
        </p:spPr>
        <p:txBody>
          <a:bodyPr wrap="square" rtlCol="0" anchor="ctr">
            <a:spAutoFit/>
          </a:bodyPr>
          <a:lstStyle/>
          <a:p>
            <a:pPr algn="ctr"/>
            <a:r>
              <a:rPr lang="en-US" sz="5000" b="1" dirty="0">
                <a:solidFill>
                  <a:schemeClr val="bg1"/>
                </a:solidFill>
                <a:latin typeface="Georgia" panose="02040502050405020303" pitchFamily="18" charset="0"/>
              </a:rPr>
              <a:t>Significant Word Usage Changes</a:t>
            </a:r>
          </a:p>
        </p:txBody>
      </p:sp>
      <p:sp>
        <p:nvSpPr>
          <p:cNvPr id="56" name="TextBox 55">
            <a:extLst>
              <a:ext uri="{FF2B5EF4-FFF2-40B4-BE49-F238E27FC236}">
                <a16:creationId xmlns:a16="http://schemas.microsoft.com/office/drawing/2014/main" id="{85F5CD0A-45D3-10E6-5A20-6216A224D68A}"/>
              </a:ext>
            </a:extLst>
          </p:cNvPr>
          <p:cNvSpPr txBox="1"/>
          <p:nvPr/>
        </p:nvSpPr>
        <p:spPr>
          <a:xfrm>
            <a:off x="632891" y="14503940"/>
            <a:ext cx="10091735" cy="861774"/>
          </a:xfrm>
          <a:prstGeom prst="rect">
            <a:avLst/>
          </a:prstGeom>
          <a:solidFill>
            <a:srgbClr val="78206E"/>
          </a:solidFill>
        </p:spPr>
        <p:txBody>
          <a:bodyPr wrap="square" rtlCol="0" anchor="ctr">
            <a:spAutoFit/>
          </a:bodyPr>
          <a:lstStyle/>
          <a:p>
            <a:pPr algn="ctr"/>
            <a:r>
              <a:rPr lang="en-US" sz="5000" b="1" dirty="0">
                <a:solidFill>
                  <a:schemeClr val="bg1"/>
                </a:solidFill>
                <a:latin typeface="Georgia" panose="02040502050405020303" pitchFamily="18" charset="0"/>
              </a:rPr>
              <a:t>Funding Changes</a:t>
            </a:r>
          </a:p>
        </p:txBody>
      </p:sp>
      <p:sp>
        <p:nvSpPr>
          <p:cNvPr id="57" name="TextBox 56">
            <a:extLst>
              <a:ext uri="{FF2B5EF4-FFF2-40B4-BE49-F238E27FC236}">
                <a16:creationId xmlns:a16="http://schemas.microsoft.com/office/drawing/2014/main" id="{4736EC95-F04C-8F11-E29C-A3DF5D10C0FE}"/>
              </a:ext>
            </a:extLst>
          </p:cNvPr>
          <p:cNvSpPr txBox="1"/>
          <p:nvPr/>
        </p:nvSpPr>
        <p:spPr>
          <a:xfrm>
            <a:off x="11290717" y="13650973"/>
            <a:ext cx="20569606" cy="861774"/>
          </a:xfrm>
          <a:prstGeom prst="rect">
            <a:avLst/>
          </a:prstGeom>
          <a:solidFill>
            <a:srgbClr val="78206E"/>
          </a:solidFill>
        </p:spPr>
        <p:txBody>
          <a:bodyPr wrap="square" rtlCol="0" anchor="b">
            <a:spAutoFit/>
          </a:bodyPr>
          <a:lstStyle/>
          <a:p>
            <a:pPr algn="ctr"/>
            <a:r>
              <a:rPr lang="en-US" sz="5000" b="1" dirty="0">
                <a:solidFill>
                  <a:schemeClr val="bg1"/>
                </a:solidFill>
                <a:latin typeface="Georgia" panose="02040502050405020303" pitchFamily="18" charset="0"/>
              </a:rPr>
              <a:t>Lexical Change</a:t>
            </a:r>
          </a:p>
        </p:txBody>
      </p:sp>
      <p:sp>
        <p:nvSpPr>
          <p:cNvPr id="58" name="TextBox 57">
            <a:extLst>
              <a:ext uri="{FF2B5EF4-FFF2-40B4-BE49-F238E27FC236}">
                <a16:creationId xmlns:a16="http://schemas.microsoft.com/office/drawing/2014/main" id="{CA267B55-56B6-A228-CB74-DF5005DEF957}"/>
              </a:ext>
            </a:extLst>
          </p:cNvPr>
          <p:cNvSpPr txBox="1"/>
          <p:nvPr/>
        </p:nvSpPr>
        <p:spPr>
          <a:xfrm>
            <a:off x="11290717" y="24419848"/>
            <a:ext cx="20578328" cy="861774"/>
          </a:xfrm>
          <a:prstGeom prst="rect">
            <a:avLst/>
          </a:prstGeom>
          <a:solidFill>
            <a:srgbClr val="78206E"/>
          </a:solidFill>
        </p:spPr>
        <p:txBody>
          <a:bodyPr wrap="square" rtlCol="0" anchor="ctr">
            <a:spAutoFit/>
          </a:bodyPr>
          <a:lstStyle/>
          <a:p>
            <a:pPr algn="ctr"/>
            <a:r>
              <a:rPr lang="en-US" sz="5000" b="1" dirty="0">
                <a:solidFill>
                  <a:schemeClr val="bg1"/>
                </a:solidFill>
                <a:latin typeface="Georgia" panose="02040502050405020303" pitchFamily="18" charset="0"/>
              </a:rPr>
              <a:t>Presence of “Banned Words”</a:t>
            </a:r>
          </a:p>
        </p:txBody>
      </p:sp>
      <p:sp>
        <p:nvSpPr>
          <p:cNvPr id="59" name="TextBox 58">
            <a:extLst>
              <a:ext uri="{FF2B5EF4-FFF2-40B4-BE49-F238E27FC236}">
                <a16:creationId xmlns:a16="http://schemas.microsoft.com/office/drawing/2014/main" id="{F3C4B400-4D4A-8F98-8DFC-9EA6FA256DA5}"/>
              </a:ext>
            </a:extLst>
          </p:cNvPr>
          <p:cNvSpPr txBox="1"/>
          <p:nvPr/>
        </p:nvSpPr>
        <p:spPr>
          <a:xfrm>
            <a:off x="32395884" y="5152449"/>
            <a:ext cx="11062090" cy="861774"/>
          </a:xfrm>
          <a:prstGeom prst="rect">
            <a:avLst/>
          </a:prstGeom>
          <a:solidFill>
            <a:srgbClr val="78206E"/>
          </a:solidFill>
        </p:spPr>
        <p:txBody>
          <a:bodyPr wrap="square" rtlCol="0" anchor="ctr">
            <a:spAutoFit/>
          </a:bodyPr>
          <a:lstStyle/>
          <a:p>
            <a:pPr algn="ctr"/>
            <a:r>
              <a:rPr lang="en-US" sz="5000" b="1" dirty="0">
                <a:solidFill>
                  <a:schemeClr val="bg1"/>
                </a:solidFill>
                <a:latin typeface="Georgia" panose="02040502050405020303" pitchFamily="18" charset="0"/>
              </a:rPr>
              <a:t>Discussion</a:t>
            </a:r>
          </a:p>
        </p:txBody>
      </p:sp>
      <p:sp>
        <p:nvSpPr>
          <p:cNvPr id="61" name="TextBox 60">
            <a:extLst>
              <a:ext uri="{FF2B5EF4-FFF2-40B4-BE49-F238E27FC236}">
                <a16:creationId xmlns:a16="http://schemas.microsoft.com/office/drawing/2014/main" id="{E2C702A2-2242-94DE-30D3-B54515150E68}"/>
              </a:ext>
            </a:extLst>
          </p:cNvPr>
          <p:cNvSpPr txBox="1"/>
          <p:nvPr/>
        </p:nvSpPr>
        <p:spPr>
          <a:xfrm>
            <a:off x="32430774" y="26219835"/>
            <a:ext cx="11079535" cy="861774"/>
          </a:xfrm>
          <a:prstGeom prst="rect">
            <a:avLst/>
          </a:prstGeom>
          <a:solidFill>
            <a:srgbClr val="78206E"/>
          </a:solidFill>
        </p:spPr>
        <p:txBody>
          <a:bodyPr wrap="square" rtlCol="0" anchor="ctr">
            <a:spAutoFit/>
          </a:bodyPr>
          <a:lstStyle/>
          <a:p>
            <a:pPr algn="ctr"/>
            <a:r>
              <a:rPr lang="en-US" sz="5000" b="1" dirty="0">
                <a:solidFill>
                  <a:schemeClr val="bg1"/>
                </a:solidFill>
                <a:latin typeface="Georgia" panose="02040502050405020303" pitchFamily="18" charset="0"/>
              </a:rPr>
              <a:t>References</a:t>
            </a:r>
          </a:p>
        </p:txBody>
      </p:sp>
      <p:sp>
        <p:nvSpPr>
          <p:cNvPr id="1057" name="TextBox 1056">
            <a:extLst>
              <a:ext uri="{FF2B5EF4-FFF2-40B4-BE49-F238E27FC236}">
                <a16:creationId xmlns:a16="http://schemas.microsoft.com/office/drawing/2014/main" id="{3B6C9F92-C275-B5B2-A4A4-FE28018FD344}"/>
              </a:ext>
            </a:extLst>
          </p:cNvPr>
          <p:cNvSpPr txBox="1"/>
          <p:nvPr/>
        </p:nvSpPr>
        <p:spPr>
          <a:xfrm>
            <a:off x="11584670" y="6167617"/>
            <a:ext cx="7526732" cy="9110186"/>
          </a:xfrm>
          <a:prstGeom prst="rect">
            <a:avLst/>
          </a:prstGeom>
          <a:noFill/>
        </p:spPr>
        <p:txBody>
          <a:bodyPr wrap="square" rtlCol="0">
            <a:spAutoFit/>
          </a:bodyPr>
          <a:lstStyle/>
          <a:p>
            <a:r>
              <a:rPr lang="en-US" sz="2500" dirty="0"/>
              <a:t>To track changes in word importance from 2024 to 2025, I calculated TF-IDF scores for all words across both years for direct comparison. Using Mann–Whitney U-Tests and applying the FDR-BH correction, I identified significant changes across the 49,974 word distributions.</a:t>
            </a:r>
          </a:p>
          <a:p>
            <a:endParaRPr lang="en-US" sz="1000" dirty="0"/>
          </a:p>
          <a:p>
            <a:r>
              <a:rPr lang="en-US" sz="2500" b="1" dirty="0"/>
              <a:t>First two months: </a:t>
            </a:r>
            <a:r>
              <a:rPr lang="en-US" sz="2500" dirty="0"/>
              <a:t>13 words decreased significantly in their TF-IDF scores. These words are more narrowly targeted to DEI topics. This indicates that at the beginning of the year, the administration was most focused on rejecting grant proposals to research that involved DEI. </a:t>
            </a:r>
          </a:p>
          <a:p>
            <a:endParaRPr lang="en-US" sz="1000" dirty="0"/>
          </a:p>
          <a:p>
            <a:r>
              <a:rPr lang="en-US" sz="2500" b="1" dirty="0"/>
              <a:t>Six months: </a:t>
            </a:r>
            <a:r>
              <a:rPr lang="en-US" sz="2500" dirty="0"/>
              <a:t>29 words decrease significantly (adjusted p-value &lt; 0.05) in the distribution of their TF-IDF scores, relating to education, DEI, and the environment, which are three areas in which the Trump administration is restricting funding, for the NSF and across the federal government.</a:t>
            </a:r>
          </a:p>
          <a:p>
            <a:endParaRPr lang="en-US" sz="2500" dirty="0"/>
          </a:p>
          <a:p>
            <a:endParaRPr lang="en-US" sz="2500" dirty="0"/>
          </a:p>
          <a:p>
            <a:endParaRPr lang="en-US" sz="1000" dirty="0"/>
          </a:p>
          <a:p>
            <a:endParaRPr lang="en-US" sz="1000" b="1" dirty="0"/>
          </a:p>
          <a:p>
            <a:br>
              <a:rPr lang="en-US" sz="1000" dirty="0"/>
            </a:br>
            <a:br>
              <a:rPr lang="en-US" dirty="0"/>
            </a:br>
            <a:endParaRPr lang="en-US" dirty="0"/>
          </a:p>
        </p:txBody>
      </p:sp>
      <p:sp>
        <p:nvSpPr>
          <p:cNvPr id="1058" name="TextBox 1057">
            <a:extLst>
              <a:ext uri="{FF2B5EF4-FFF2-40B4-BE49-F238E27FC236}">
                <a16:creationId xmlns:a16="http://schemas.microsoft.com/office/drawing/2014/main" id="{9B440685-0622-8756-42AF-45869A69F11D}"/>
              </a:ext>
            </a:extLst>
          </p:cNvPr>
          <p:cNvSpPr txBox="1"/>
          <p:nvPr/>
        </p:nvSpPr>
        <p:spPr>
          <a:xfrm>
            <a:off x="22163441" y="14772356"/>
            <a:ext cx="9542427" cy="10556736"/>
          </a:xfrm>
          <a:prstGeom prst="rect">
            <a:avLst/>
          </a:prstGeom>
          <a:noFill/>
        </p:spPr>
        <p:txBody>
          <a:bodyPr wrap="square" rtlCol="0">
            <a:spAutoFit/>
          </a:bodyPr>
          <a:lstStyle/>
          <a:p>
            <a:r>
              <a:rPr lang="en-US" sz="2500" b="1" dirty="0"/>
              <a:t>Measurement: </a:t>
            </a:r>
            <a:r>
              <a:rPr lang="en-US" sz="2500" dirty="0"/>
              <a:t>To measure the lexical shifts of all abstracts between years, I use the cosine distances as between average TF-IDF score vectors for the first two and six months of each consecutive year pair from 2016-2025.</a:t>
            </a:r>
          </a:p>
          <a:p>
            <a:br>
              <a:rPr lang="en-US" sz="1000" dirty="0"/>
            </a:br>
            <a:r>
              <a:rPr lang="en-US" sz="2500" b="1" dirty="0"/>
              <a:t>First two months: </a:t>
            </a:r>
            <a:r>
              <a:rPr lang="en-US" sz="2500" dirty="0"/>
              <a:t>When examining the cosine distances from January 21 to March 21 of each year from 2016 to 2025, there are large spikes…</a:t>
            </a:r>
          </a:p>
          <a:p>
            <a:endParaRPr lang="en-US" sz="1000" dirty="0"/>
          </a:p>
          <a:p>
            <a:pPr marL="342900" indent="-342900">
              <a:buFont typeface="Arial" panose="020B0604020202020204" pitchFamily="34" charset="0"/>
              <a:buChar char="•"/>
            </a:pPr>
            <a:r>
              <a:rPr lang="en-US" sz="2500" dirty="0"/>
              <a:t>from 2019 to 2020 that can be attributed to research topics related to the COVID-19 pandemic</a:t>
            </a:r>
          </a:p>
          <a:p>
            <a:pPr marL="342900" indent="-342900">
              <a:buFont typeface="Arial" panose="020B0604020202020204" pitchFamily="34" charset="0"/>
              <a:buChar char="•"/>
            </a:pPr>
            <a:r>
              <a:rPr lang="en-US" sz="2500" dirty="0"/>
              <a:t>from 2024 to 2025 that can be attributed to the change in research priorities driven by the Trump administration</a:t>
            </a:r>
          </a:p>
          <a:p>
            <a:br>
              <a:rPr lang="en-US" sz="1000" dirty="0"/>
            </a:br>
            <a:r>
              <a:rPr lang="en-US" sz="2500" b="1" dirty="0"/>
              <a:t>Six months: </a:t>
            </a:r>
            <a:r>
              <a:rPr lang="en-US" sz="2500" dirty="0"/>
              <a:t>However, when examining the cosine distances from January 21 to June 30 from 2016 to 2025, the 2024-2025 cosine distance is, relatively, not as large, especially when being compared to the massive changes in the 2019-2020 and 2020-2021 distances.</a:t>
            </a:r>
          </a:p>
          <a:p>
            <a:endParaRPr lang="en-US" sz="1000" dirty="0"/>
          </a:p>
          <a:p>
            <a:r>
              <a:rPr lang="en-US" sz="2500" dirty="0"/>
              <a:t>From this, two inferences can be gleaned: </a:t>
            </a:r>
          </a:p>
          <a:p>
            <a:pPr marL="457200" indent="-457200">
              <a:buFont typeface="+mj-lt"/>
              <a:buAutoNum type="arabicPeriod"/>
            </a:pPr>
            <a:r>
              <a:rPr lang="en-US" sz="2500" dirty="0"/>
              <a:t>The changes in research priorities, as well as the impacts on the NSF, from the COVID-19 pandemic are significantly greater than that of the changes in NSF research priorities driven by the Trump administration.</a:t>
            </a:r>
          </a:p>
          <a:p>
            <a:pPr marL="457200" indent="-457200">
              <a:buFont typeface="+mj-lt"/>
              <a:buAutoNum type="arabicPeriod"/>
            </a:pPr>
            <a:r>
              <a:rPr lang="en-US" sz="2500" dirty="0"/>
              <a:t>Actions taken to limit research on environmental justice, DEI, and education were fast and front-loaded, and have somewhat stabilized from the early year changes.</a:t>
            </a:r>
          </a:p>
          <a:p>
            <a:br>
              <a:rPr lang="en-US" sz="2000" dirty="0"/>
            </a:br>
            <a:endParaRPr lang="en-US" sz="2000" dirty="0"/>
          </a:p>
        </p:txBody>
      </p:sp>
      <p:sp>
        <p:nvSpPr>
          <p:cNvPr id="1059" name="TextBox 1058">
            <a:extLst>
              <a:ext uri="{FF2B5EF4-FFF2-40B4-BE49-F238E27FC236}">
                <a16:creationId xmlns:a16="http://schemas.microsoft.com/office/drawing/2014/main" id="{55F6C288-501F-6F2B-1D7A-8F464AEE4A75}"/>
              </a:ext>
            </a:extLst>
          </p:cNvPr>
          <p:cNvSpPr txBox="1"/>
          <p:nvPr/>
        </p:nvSpPr>
        <p:spPr>
          <a:xfrm>
            <a:off x="808737" y="15745940"/>
            <a:ext cx="4065993" cy="5863144"/>
          </a:xfrm>
          <a:prstGeom prst="rect">
            <a:avLst/>
          </a:prstGeom>
          <a:noFill/>
        </p:spPr>
        <p:txBody>
          <a:bodyPr wrap="square" rtlCol="0">
            <a:spAutoFit/>
          </a:bodyPr>
          <a:lstStyle/>
          <a:p>
            <a:r>
              <a:rPr lang="en-US" sz="3000" b="1" dirty="0"/>
              <a:t>Funding per Award</a:t>
            </a:r>
          </a:p>
          <a:p>
            <a:endParaRPr lang="en-US" sz="1000" b="1" dirty="0"/>
          </a:p>
          <a:p>
            <a:r>
              <a:rPr lang="en-US" sz="2500" dirty="0"/>
              <a:t>From January 21 to June 30 of 2024 and 2025, average funding per award is not significantly different (two-sample t-test with unequal variances, p = 0.9996).</a:t>
            </a:r>
          </a:p>
          <a:p>
            <a:endParaRPr lang="en-US" sz="2500" dirty="0"/>
          </a:p>
          <a:p>
            <a:r>
              <a:rPr lang="en-US" sz="2500" dirty="0"/>
              <a:t>However, for only the first two months:</a:t>
            </a:r>
          </a:p>
          <a:p>
            <a:pPr marL="342900" indent="-342900">
              <a:buFont typeface="Arial" panose="020B0604020202020204" pitchFamily="34" charset="0"/>
              <a:buChar char="•"/>
            </a:pPr>
            <a:r>
              <a:rPr lang="en-US" sz="2500" dirty="0"/>
              <a:t>2025 mean: $366,197.94</a:t>
            </a:r>
          </a:p>
          <a:p>
            <a:pPr marL="342900" indent="-342900">
              <a:buFont typeface="Arial" panose="020B0604020202020204" pitchFamily="34" charset="0"/>
              <a:buChar char="•"/>
            </a:pPr>
            <a:r>
              <a:rPr lang="en-US" sz="2500" dirty="0"/>
              <a:t>2024 mean: $545,383.90</a:t>
            </a:r>
          </a:p>
          <a:p>
            <a:pPr marL="342900" indent="-342900">
              <a:buFont typeface="Arial" panose="020B0604020202020204" pitchFamily="34" charset="0"/>
              <a:buChar char="•"/>
            </a:pPr>
            <a:r>
              <a:rPr lang="en-US" sz="2500" dirty="0"/>
              <a:t>Difference is statistically significant (p=0.0001)</a:t>
            </a:r>
          </a:p>
          <a:p>
            <a:endParaRPr lang="en-US" sz="1000" b="1" dirty="0"/>
          </a:p>
        </p:txBody>
      </p:sp>
      <p:sp>
        <p:nvSpPr>
          <p:cNvPr id="1060" name="TextBox 1059">
            <a:extLst>
              <a:ext uri="{FF2B5EF4-FFF2-40B4-BE49-F238E27FC236}">
                <a16:creationId xmlns:a16="http://schemas.microsoft.com/office/drawing/2014/main" id="{4D262FCE-EBD7-C282-24B4-65498A193503}"/>
              </a:ext>
            </a:extLst>
          </p:cNvPr>
          <p:cNvSpPr txBox="1"/>
          <p:nvPr/>
        </p:nvSpPr>
        <p:spPr>
          <a:xfrm>
            <a:off x="817890" y="6110631"/>
            <a:ext cx="9679920" cy="12634228"/>
          </a:xfrm>
          <a:prstGeom prst="rect">
            <a:avLst/>
          </a:prstGeom>
          <a:noFill/>
        </p:spPr>
        <p:txBody>
          <a:bodyPr wrap="square" rtlCol="0">
            <a:spAutoFit/>
          </a:bodyPr>
          <a:lstStyle/>
          <a:p>
            <a:r>
              <a:rPr lang="en-US" sz="2500" dirty="0"/>
              <a:t>The second Trump presidency has brought sweeping changes to the administrative state using executive orders, with a particular focus on curbing the role of diversity, equity, and inclusion policies.</a:t>
            </a:r>
          </a:p>
          <a:p>
            <a:endParaRPr lang="en-US" sz="1000" dirty="0"/>
          </a:p>
          <a:p>
            <a:r>
              <a:rPr lang="en-US" sz="2500" dirty="0"/>
              <a:t>With respect to the NSF, this included a new layer of political influence over federally funded research, in addition to budget cuts and layoffs that cut 10 percent of NSF staff (168 employees).</a:t>
            </a:r>
          </a:p>
          <a:p>
            <a:endParaRPr lang="en-US" sz="1000" dirty="0"/>
          </a:p>
          <a:p>
            <a:r>
              <a:rPr lang="en-US" sz="2500" dirty="0"/>
              <a:t>Changes in federally funded research by narrowing priorities stand to have big impacts on more than just academia. Jasanoff (2004) posits that science and society are mutually constitutive, such that scientific research and social norms are intertwined. By cutting DEI-related research projects, there will very likely be disruptions in social phenomena.</a:t>
            </a:r>
          </a:p>
          <a:p>
            <a:endParaRPr lang="en-US" sz="1000" dirty="0"/>
          </a:p>
          <a:p>
            <a:r>
              <a:rPr lang="en-US" sz="2500" dirty="0"/>
              <a:t>Hess (2015) finds that gaps in research are systematically produced by dominant political actors to uphold power imbalances. This supports the idea that these changes to NSF research priorities are neither harmless nor unintentional.</a:t>
            </a:r>
          </a:p>
          <a:p>
            <a:endParaRPr lang="en-US" sz="2500" dirty="0"/>
          </a:p>
          <a:p>
            <a:endParaRPr lang="en-US" sz="2500" dirty="0"/>
          </a:p>
          <a:p>
            <a:endParaRPr lang="en-US" sz="2500" dirty="0"/>
          </a:p>
          <a:p>
            <a:endParaRPr lang="en-US" sz="2500" dirty="0"/>
          </a:p>
          <a:p>
            <a:endParaRPr lang="en-US" sz="2500" dirty="0"/>
          </a:p>
          <a:p>
            <a:endParaRPr lang="en-US" sz="2500" dirty="0"/>
          </a:p>
          <a:p>
            <a:endParaRPr lang="en-US" sz="2500" dirty="0"/>
          </a:p>
          <a:p>
            <a:endParaRPr lang="en-US" sz="2500" dirty="0"/>
          </a:p>
          <a:p>
            <a:endParaRPr lang="en-US" sz="2500" dirty="0"/>
          </a:p>
          <a:p>
            <a:endParaRPr lang="en-US" sz="2500" dirty="0"/>
          </a:p>
          <a:p>
            <a:endParaRPr lang="en-US" sz="2500" dirty="0"/>
          </a:p>
          <a:p>
            <a:endParaRPr lang="en-US" sz="2500" dirty="0"/>
          </a:p>
          <a:p>
            <a:endParaRPr lang="en-US" sz="2500" dirty="0"/>
          </a:p>
          <a:p>
            <a:endParaRPr lang="en-US" sz="2500" dirty="0"/>
          </a:p>
          <a:p>
            <a:endParaRPr lang="en-US" sz="2500" dirty="0"/>
          </a:p>
          <a:p>
            <a:endParaRPr lang="en-US" sz="1000" dirty="0"/>
          </a:p>
        </p:txBody>
      </p:sp>
      <p:sp>
        <p:nvSpPr>
          <p:cNvPr id="1061" name="TextBox 1060">
            <a:extLst>
              <a:ext uri="{FF2B5EF4-FFF2-40B4-BE49-F238E27FC236}">
                <a16:creationId xmlns:a16="http://schemas.microsoft.com/office/drawing/2014/main" id="{FF338A61-F79C-CBDA-586D-A70593DCE414}"/>
              </a:ext>
            </a:extLst>
          </p:cNvPr>
          <p:cNvSpPr txBox="1"/>
          <p:nvPr/>
        </p:nvSpPr>
        <p:spPr>
          <a:xfrm>
            <a:off x="11524700" y="25670832"/>
            <a:ext cx="8128738" cy="6386364"/>
          </a:xfrm>
          <a:prstGeom prst="rect">
            <a:avLst/>
          </a:prstGeom>
          <a:noFill/>
        </p:spPr>
        <p:txBody>
          <a:bodyPr wrap="square" rtlCol="0">
            <a:spAutoFit/>
          </a:bodyPr>
          <a:lstStyle/>
          <a:p>
            <a:r>
              <a:rPr lang="en-US" sz="2500" dirty="0"/>
              <a:t>The “list of banned words” consists of words that were included in Trump administration guidance to remove (or use cautiously) from public-facing federal government media.</a:t>
            </a:r>
          </a:p>
          <a:p>
            <a:endParaRPr lang="en-US" sz="1500" dirty="0"/>
          </a:p>
          <a:p>
            <a:r>
              <a:rPr lang="en-US" sz="2500" dirty="0"/>
              <a:t>I compare this list of 197 words and phrases, compiled by the New York Times, with language in NSF abstracts as another measure of lexical change, more narrowly focused on DEI topics.</a:t>
            </a:r>
          </a:p>
          <a:p>
            <a:endParaRPr lang="en-US" sz="1500" dirty="0"/>
          </a:p>
          <a:p>
            <a:r>
              <a:rPr lang="en-US" sz="2500" dirty="0"/>
              <a:t>From 2024 to 2025, there was a 61.7 percent reduction in the use of the terms across abstracts. </a:t>
            </a:r>
          </a:p>
          <a:p>
            <a:endParaRPr lang="en-US" dirty="0"/>
          </a:p>
          <a:p>
            <a:r>
              <a:rPr lang="en-US" sz="2500" dirty="0"/>
              <a:t>Between 2016 and 2024, these words make up an average 0.43% of all words in the abstracts for each year. In 2025, these terms make up only 0.19%.</a:t>
            </a:r>
          </a:p>
          <a:p>
            <a:br>
              <a:rPr lang="en-US" dirty="0"/>
            </a:br>
            <a:endParaRPr lang="en-US" dirty="0"/>
          </a:p>
        </p:txBody>
      </p:sp>
      <p:sp>
        <p:nvSpPr>
          <p:cNvPr id="1063" name="TextBox 1062">
            <a:extLst>
              <a:ext uri="{FF2B5EF4-FFF2-40B4-BE49-F238E27FC236}">
                <a16:creationId xmlns:a16="http://schemas.microsoft.com/office/drawing/2014/main" id="{996277AD-8B73-B60C-BF76-360B75AD31FC}"/>
              </a:ext>
            </a:extLst>
          </p:cNvPr>
          <p:cNvSpPr txBox="1"/>
          <p:nvPr/>
        </p:nvSpPr>
        <p:spPr>
          <a:xfrm>
            <a:off x="32521856" y="6137414"/>
            <a:ext cx="10827589" cy="20082421"/>
          </a:xfrm>
          <a:prstGeom prst="rect">
            <a:avLst/>
          </a:prstGeom>
          <a:noFill/>
        </p:spPr>
        <p:txBody>
          <a:bodyPr wrap="square" rtlCol="0">
            <a:spAutoFit/>
          </a:bodyPr>
          <a:lstStyle/>
          <a:p>
            <a:r>
              <a:rPr lang="en-US" sz="3200" b="1" dirty="0"/>
              <a:t>Findings</a:t>
            </a:r>
          </a:p>
          <a:p>
            <a:endParaRPr lang="en-US" sz="500" b="1" dirty="0"/>
          </a:p>
          <a:p>
            <a:endParaRPr lang="en-US" sz="500" b="1" dirty="0"/>
          </a:p>
          <a:p>
            <a:r>
              <a:rPr lang="en-US" sz="3000" b="1" i="1" dirty="0">
                <a:solidFill>
                  <a:schemeClr val="accent5">
                    <a:lumMod val="75000"/>
                  </a:schemeClr>
                </a:solidFill>
              </a:rPr>
              <a:t>1. There is strong evidence the NSF’s research priorities have been narrowed by the Trump Administration</a:t>
            </a:r>
          </a:p>
          <a:p>
            <a:endParaRPr lang="en-US" sz="1000" dirty="0"/>
          </a:p>
          <a:p>
            <a:br>
              <a:rPr lang="en-US" sz="1000" dirty="0"/>
            </a:br>
            <a:r>
              <a:rPr lang="en-US" sz="2500" dirty="0"/>
              <a:t>There are four analyses that provide evidence for significant impacts on changing research priorities; 1) funding differences in the beginning of the year, 2) statistically significant word use changes, 3) lexical change in the beginning of the year, and 4) drop in “banned” word usage. Together, they support the finding that the administration has been successful in altering what types of research the NSF supports and reducing the role of the federal government in promoting equity through science. </a:t>
            </a:r>
            <a:endParaRPr lang="en-US" sz="1000" b="1" dirty="0"/>
          </a:p>
          <a:p>
            <a:endParaRPr lang="en-US" sz="1000" b="1" dirty="0"/>
          </a:p>
          <a:p>
            <a:br>
              <a:rPr lang="en-US" sz="1000" b="1" dirty="0"/>
            </a:br>
            <a:r>
              <a:rPr lang="en-US" sz="3000" b="1" dirty="0">
                <a:solidFill>
                  <a:schemeClr val="accent5">
                    <a:lumMod val="75000"/>
                  </a:schemeClr>
                </a:solidFill>
              </a:rPr>
              <a:t>2. </a:t>
            </a:r>
            <a:r>
              <a:rPr lang="en-US" sz="3000" b="1" i="1" dirty="0">
                <a:solidFill>
                  <a:schemeClr val="accent5">
                    <a:lumMod val="75000"/>
                  </a:schemeClr>
                </a:solidFill>
              </a:rPr>
              <a:t>Changes to NSF awards in the beginning of the year strongly reduced funding and targeted DEI</a:t>
            </a:r>
          </a:p>
          <a:p>
            <a:endParaRPr lang="en-US" sz="1000" dirty="0"/>
          </a:p>
          <a:p>
            <a:br>
              <a:rPr lang="en-US" sz="1000" dirty="0"/>
            </a:br>
            <a:r>
              <a:rPr lang="en-US" sz="2500" dirty="0"/>
              <a:t>When analyzing only the first two months of 2024 and 2025, there is a significant drop in the average award amount compared to the same period in 2024, as well as a clear spike in cosine distance between years. This signals that there was a swift disruption in the types of research funded. This period also contained a greater concentration of significant TF-IDF reductions in DEI-related words. These findings indicate that the strongest cuts and topic shifts took place early in the second Trump administration.</a:t>
            </a:r>
            <a:endParaRPr lang="en-US" sz="2500" b="1" dirty="0"/>
          </a:p>
          <a:p>
            <a:endParaRPr lang="en-US" sz="1000" b="1" dirty="0"/>
          </a:p>
          <a:p>
            <a:br>
              <a:rPr lang="en-US" sz="1000" b="1" dirty="0"/>
            </a:br>
            <a:r>
              <a:rPr lang="en-US" sz="3000" b="1" dirty="0">
                <a:solidFill>
                  <a:schemeClr val="accent5">
                    <a:lumMod val="75000"/>
                  </a:schemeClr>
                </a:solidFill>
              </a:rPr>
              <a:t>3. </a:t>
            </a:r>
            <a:r>
              <a:rPr lang="en-US" sz="3000" b="1" i="1" dirty="0">
                <a:solidFill>
                  <a:schemeClr val="accent5">
                    <a:lumMod val="75000"/>
                  </a:schemeClr>
                </a:solidFill>
              </a:rPr>
              <a:t>Changes to the NSF’s research priorities and funding have stabilized relative to the beginning of the year</a:t>
            </a:r>
          </a:p>
          <a:p>
            <a:endParaRPr lang="en-US" sz="1000" dirty="0"/>
          </a:p>
          <a:p>
            <a:br>
              <a:rPr lang="en-US" sz="1000" dirty="0"/>
            </a:br>
            <a:r>
              <a:rPr lang="en-US" sz="2500" dirty="0"/>
              <a:t>While the first two months of 2025 show significant changes, average award differences and cosine distance (as a measure of lexical shifts) over the full six-month periods do not have the same level of significance.  The Trump administration’s policy shift appears to have had its strongest influence early in the year, before settling into a new, but less volatile, funding landscape for the remainder of the year.</a:t>
            </a:r>
          </a:p>
          <a:p>
            <a:endParaRPr lang="en-US" sz="1000" dirty="0"/>
          </a:p>
          <a:p>
            <a:br>
              <a:rPr lang="en-US" sz="1000" dirty="0"/>
            </a:br>
            <a:r>
              <a:rPr lang="en-US" sz="3200" b="1" dirty="0"/>
              <a:t>Future Research</a:t>
            </a:r>
          </a:p>
          <a:p>
            <a:endParaRPr lang="en-US" sz="500" b="1" dirty="0"/>
          </a:p>
          <a:p>
            <a:endParaRPr lang="en-US" sz="500" b="1" dirty="0"/>
          </a:p>
          <a:p>
            <a:pPr marL="457200" indent="-457200" fontAlgn="base">
              <a:buAutoNum type="arabicPeriod"/>
            </a:pPr>
            <a:r>
              <a:rPr lang="en-US" sz="3000" b="1" i="1" dirty="0">
                <a:solidFill>
                  <a:schemeClr val="accent5">
                    <a:lumMod val="75000"/>
                  </a:schemeClr>
                </a:solidFill>
              </a:rPr>
              <a:t>Why do changes vary in significance throughout the first six months? Are protests and pushback effective?</a:t>
            </a:r>
          </a:p>
          <a:p>
            <a:pPr fontAlgn="base"/>
            <a:endParaRPr lang="en-US" sz="1000" b="1" i="1" dirty="0">
              <a:solidFill>
                <a:schemeClr val="accent5">
                  <a:lumMod val="75000"/>
                </a:schemeClr>
              </a:solidFill>
            </a:endParaRPr>
          </a:p>
          <a:p>
            <a:pPr fontAlgn="base"/>
            <a:r>
              <a:rPr lang="en-US" sz="2500" dirty="0"/>
              <a:t>It is unclear why the strength of the changes at the NSF were significantly stronger at the beginning of the year. Further research could link other data sources with these analyses to explain why changes are occurring at varying rates, and how the guidance from the White House filters down to the NSF Program Officers.</a:t>
            </a:r>
          </a:p>
          <a:p>
            <a:pPr fontAlgn="base"/>
            <a:endParaRPr lang="en-US" sz="1000" dirty="0"/>
          </a:p>
          <a:p>
            <a:pPr fontAlgn="base"/>
            <a:endParaRPr lang="en-US" sz="1000" dirty="0"/>
          </a:p>
          <a:p>
            <a:pPr marL="457200" indent="-457200" fontAlgn="base">
              <a:buFont typeface="+mj-lt"/>
              <a:buAutoNum type="arabicPeriod" startAt="2"/>
            </a:pPr>
            <a:r>
              <a:rPr lang="en-US" sz="3000" b="1" i="1" dirty="0">
                <a:solidFill>
                  <a:schemeClr val="accent5">
                    <a:lumMod val="75000"/>
                  </a:schemeClr>
                </a:solidFill>
              </a:rPr>
              <a:t>Are the changes in abstract language reflected in projects, or are researchers adjusting language?</a:t>
            </a:r>
          </a:p>
          <a:p>
            <a:pPr fontAlgn="base"/>
            <a:endParaRPr lang="en-US" sz="1000" b="1" i="1" dirty="0">
              <a:solidFill>
                <a:schemeClr val="accent5">
                  <a:lumMod val="75000"/>
                </a:schemeClr>
              </a:solidFill>
            </a:endParaRPr>
          </a:p>
          <a:p>
            <a:r>
              <a:rPr lang="en-US" sz="2500" dirty="0"/>
              <a:t>The significant decreases in DEI related language may reflect how researchers write their grants and not just the content of their projects. Researchers could still be incorporating these topics within their research without explicitly informing the NSF. It is worth exploring how these changes are reflected in research outputs outside of the funding applications.</a:t>
            </a:r>
          </a:p>
        </p:txBody>
      </p:sp>
      <p:sp>
        <p:nvSpPr>
          <p:cNvPr id="1067" name="TextBox 1066">
            <a:extLst>
              <a:ext uri="{FF2B5EF4-FFF2-40B4-BE49-F238E27FC236}">
                <a16:creationId xmlns:a16="http://schemas.microsoft.com/office/drawing/2014/main" id="{2515986E-569D-3D8C-E710-042000537D17}"/>
              </a:ext>
            </a:extLst>
          </p:cNvPr>
          <p:cNvSpPr txBox="1"/>
          <p:nvPr/>
        </p:nvSpPr>
        <p:spPr>
          <a:xfrm>
            <a:off x="808737" y="21816275"/>
            <a:ext cx="9614647" cy="2754600"/>
          </a:xfrm>
          <a:prstGeom prst="rect">
            <a:avLst/>
          </a:prstGeom>
          <a:noFill/>
        </p:spPr>
        <p:txBody>
          <a:bodyPr wrap="square" rtlCol="0">
            <a:spAutoFit/>
          </a:bodyPr>
          <a:lstStyle/>
          <a:p>
            <a:r>
              <a:rPr lang="en-US" sz="3000" b="1" dirty="0"/>
              <a:t>Terminated Awards</a:t>
            </a:r>
          </a:p>
          <a:p>
            <a:endParaRPr lang="en-US" sz="800" b="1" dirty="0"/>
          </a:p>
          <a:p>
            <a:r>
              <a:rPr lang="en-US" sz="2500" dirty="0"/>
              <a:t>1,667 awards were cancelled when the Trump administration took office, totaling $1.3 billion in NSF-funded research.</a:t>
            </a:r>
          </a:p>
          <a:p>
            <a:endParaRPr lang="en-US" sz="1000" dirty="0"/>
          </a:p>
          <a:p>
            <a:r>
              <a:rPr lang="en-US" sz="2500" dirty="0"/>
              <a:t>Cancelled awards were deemed “not aligned with program goals or agency priorities,”  for DEI, environmental justice, and misinformation related research.</a:t>
            </a:r>
          </a:p>
        </p:txBody>
      </p:sp>
      <p:sp>
        <p:nvSpPr>
          <p:cNvPr id="1068" name="TextBox 1067">
            <a:extLst>
              <a:ext uri="{FF2B5EF4-FFF2-40B4-BE49-F238E27FC236}">
                <a16:creationId xmlns:a16="http://schemas.microsoft.com/office/drawing/2014/main" id="{CABC9AEE-62DB-0B3C-4F63-3E9A2B8849AC}"/>
              </a:ext>
            </a:extLst>
          </p:cNvPr>
          <p:cNvSpPr txBox="1"/>
          <p:nvPr/>
        </p:nvSpPr>
        <p:spPr>
          <a:xfrm>
            <a:off x="817890" y="24839836"/>
            <a:ext cx="3953745" cy="6755696"/>
          </a:xfrm>
          <a:prstGeom prst="rect">
            <a:avLst/>
          </a:prstGeom>
          <a:noFill/>
        </p:spPr>
        <p:txBody>
          <a:bodyPr wrap="square" rtlCol="0">
            <a:spAutoFit/>
          </a:bodyPr>
          <a:lstStyle/>
          <a:p>
            <a:r>
              <a:rPr lang="en-US" sz="2500" dirty="0"/>
              <a:t>Cancelled award types included 22 REU programs, 191 NSF Career awards, 18 fellowships, and 65 conferences</a:t>
            </a:r>
          </a:p>
          <a:p>
            <a:endParaRPr lang="en-US" sz="1500" b="1" dirty="0"/>
          </a:p>
          <a:p>
            <a:r>
              <a:rPr lang="en-US" sz="3000" b="1" dirty="0"/>
              <a:t>Education</a:t>
            </a:r>
          </a:p>
          <a:p>
            <a:endParaRPr lang="en-US" sz="1000" b="1" dirty="0"/>
          </a:p>
          <a:p>
            <a:r>
              <a:rPr lang="en-US" sz="2500" dirty="0"/>
              <a:t>The NSF Education Directorate is now at its lowest funding level across the 10 years of data.</a:t>
            </a:r>
          </a:p>
          <a:p>
            <a:endParaRPr lang="en-US" sz="1000" dirty="0"/>
          </a:p>
          <a:p>
            <a:r>
              <a:rPr lang="en-US" sz="2500" dirty="0"/>
              <a:t>From 2024 to 2025, the education directorate saw a 29.4% decrease in funding, representing a 73.4 million dollar cut.</a:t>
            </a:r>
          </a:p>
          <a:p>
            <a:endParaRPr lang="en-US" dirty="0"/>
          </a:p>
        </p:txBody>
      </p:sp>
      <p:pic>
        <p:nvPicPr>
          <p:cNvPr id="1083" name="Picture 1082" descr="A graph with a line and numbers&#10;&#10;AI-generated content may be incorrect.">
            <a:extLst>
              <a:ext uri="{FF2B5EF4-FFF2-40B4-BE49-F238E27FC236}">
                <a16:creationId xmlns:a16="http://schemas.microsoft.com/office/drawing/2014/main" id="{5C7A6E6C-32B0-BC8A-7C79-6C6C88650328}"/>
              </a:ext>
            </a:extLst>
          </p:cNvPr>
          <p:cNvPicPr>
            <a:picLocks noChangeAspect="1"/>
          </p:cNvPicPr>
          <p:nvPr/>
        </p:nvPicPr>
        <p:blipFill>
          <a:blip r:embed="rId4"/>
          <a:stretch>
            <a:fillRect/>
          </a:stretch>
        </p:blipFill>
        <p:spPr>
          <a:xfrm>
            <a:off x="11593393" y="14706720"/>
            <a:ext cx="10280461" cy="4626207"/>
          </a:xfrm>
          <a:prstGeom prst="rect">
            <a:avLst/>
          </a:prstGeom>
        </p:spPr>
      </p:pic>
      <p:pic>
        <p:nvPicPr>
          <p:cNvPr id="1085" name="Picture 1084" descr="A graph with a line and numbers&#10;&#10;AI-generated content may be incorrect.">
            <a:extLst>
              <a:ext uri="{FF2B5EF4-FFF2-40B4-BE49-F238E27FC236}">
                <a16:creationId xmlns:a16="http://schemas.microsoft.com/office/drawing/2014/main" id="{2B99B02A-4F7E-B020-28F4-65DBCD2AA682}"/>
              </a:ext>
            </a:extLst>
          </p:cNvPr>
          <p:cNvPicPr>
            <a:picLocks noChangeAspect="1"/>
          </p:cNvPicPr>
          <p:nvPr/>
        </p:nvPicPr>
        <p:blipFill>
          <a:blip r:embed="rId5"/>
          <a:stretch>
            <a:fillRect/>
          </a:stretch>
        </p:blipFill>
        <p:spPr>
          <a:xfrm>
            <a:off x="11588204" y="19534032"/>
            <a:ext cx="10280461" cy="4626207"/>
          </a:xfrm>
          <a:prstGeom prst="rect">
            <a:avLst/>
          </a:prstGeom>
        </p:spPr>
      </p:pic>
      <p:pic>
        <p:nvPicPr>
          <p:cNvPr id="1091" name="Picture 1090" descr="A graph with purple squares&#10;&#10;AI-generated content may be incorrect.">
            <a:extLst>
              <a:ext uri="{FF2B5EF4-FFF2-40B4-BE49-F238E27FC236}">
                <a16:creationId xmlns:a16="http://schemas.microsoft.com/office/drawing/2014/main" id="{529E3CD3-56F3-69AE-54F0-392169637317}"/>
              </a:ext>
            </a:extLst>
          </p:cNvPr>
          <p:cNvPicPr>
            <a:picLocks noChangeAspect="1"/>
          </p:cNvPicPr>
          <p:nvPr/>
        </p:nvPicPr>
        <p:blipFill>
          <a:blip r:embed="rId6"/>
          <a:stretch>
            <a:fillRect/>
          </a:stretch>
        </p:blipFill>
        <p:spPr>
          <a:xfrm>
            <a:off x="20031382" y="25471145"/>
            <a:ext cx="11525591" cy="6286686"/>
          </a:xfrm>
          <a:prstGeom prst="rect">
            <a:avLst/>
          </a:prstGeom>
        </p:spPr>
      </p:pic>
      <p:pic>
        <p:nvPicPr>
          <p:cNvPr id="1093" name="Picture 1092" descr="A graph of average size&#10;&#10;AI-generated content may be incorrect.">
            <a:extLst>
              <a:ext uri="{FF2B5EF4-FFF2-40B4-BE49-F238E27FC236}">
                <a16:creationId xmlns:a16="http://schemas.microsoft.com/office/drawing/2014/main" id="{B502F181-A4DD-D92D-9045-C0283F131945}"/>
              </a:ext>
            </a:extLst>
          </p:cNvPr>
          <p:cNvPicPr>
            <a:picLocks noChangeAspect="1"/>
          </p:cNvPicPr>
          <p:nvPr/>
        </p:nvPicPr>
        <p:blipFill>
          <a:blip r:embed="rId7"/>
          <a:stretch>
            <a:fillRect/>
          </a:stretch>
        </p:blipFill>
        <p:spPr>
          <a:xfrm>
            <a:off x="4874730" y="15706443"/>
            <a:ext cx="5611641" cy="6546914"/>
          </a:xfrm>
          <a:prstGeom prst="rect">
            <a:avLst/>
          </a:prstGeom>
        </p:spPr>
      </p:pic>
      <p:pic>
        <p:nvPicPr>
          <p:cNvPr id="1097" name="Picture 1096" descr="A graph of a bar graph&#10;&#10;AI-generated content may be incorrect.">
            <a:extLst>
              <a:ext uri="{FF2B5EF4-FFF2-40B4-BE49-F238E27FC236}">
                <a16:creationId xmlns:a16="http://schemas.microsoft.com/office/drawing/2014/main" id="{C15B8B8C-B9F2-F9FC-1E24-78C60DCBA057}"/>
              </a:ext>
            </a:extLst>
          </p:cNvPr>
          <p:cNvPicPr>
            <a:picLocks noChangeAspect="1"/>
          </p:cNvPicPr>
          <p:nvPr/>
        </p:nvPicPr>
        <p:blipFill>
          <a:blip r:embed="rId8"/>
          <a:stretch>
            <a:fillRect/>
          </a:stretch>
        </p:blipFill>
        <p:spPr>
          <a:xfrm>
            <a:off x="4818105" y="24762394"/>
            <a:ext cx="5668266" cy="6914691"/>
          </a:xfrm>
          <a:prstGeom prst="rect">
            <a:avLst/>
          </a:prstGeom>
        </p:spPr>
      </p:pic>
      <p:sp>
        <p:nvSpPr>
          <p:cNvPr id="1098" name="Rectangle 1097">
            <a:extLst>
              <a:ext uri="{FF2B5EF4-FFF2-40B4-BE49-F238E27FC236}">
                <a16:creationId xmlns:a16="http://schemas.microsoft.com/office/drawing/2014/main" id="{6B7EBFFC-C540-92C9-00FC-B97A7D932FC6}"/>
              </a:ext>
            </a:extLst>
          </p:cNvPr>
          <p:cNvSpPr/>
          <p:nvPr/>
        </p:nvSpPr>
        <p:spPr>
          <a:xfrm>
            <a:off x="-255181" y="-43058"/>
            <a:ext cx="44281547" cy="407323"/>
          </a:xfrm>
          <a:prstGeom prst="rect">
            <a:avLst/>
          </a:prstGeom>
          <a:solidFill>
            <a:srgbClr val="4F15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04" name="Picture 1103" descr="A close-up of words&#10;&#10;AI-generated content may be incorrect.">
            <a:extLst>
              <a:ext uri="{FF2B5EF4-FFF2-40B4-BE49-F238E27FC236}">
                <a16:creationId xmlns:a16="http://schemas.microsoft.com/office/drawing/2014/main" id="{B4947D7A-DE5A-D0E0-F508-74A929650408}"/>
              </a:ext>
            </a:extLst>
          </p:cNvPr>
          <p:cNvPicPr>
            <a:picLocks noChangeAspect="1"/>
          </p:cNvPicPr>
          <p:nvPr/>
        </p:nvPicPr>
        <p:blipFill>
          <a:blip r:embed="rId9"/>
          <a:stretch>
            <a:fillRect/>
          </a:stretch>
        </p:blipFill>
        <p:spPr>
          <a:xfrm>
            <a:off x="20093005" y="6192135"/>
            <a:ext cx="5506369" cy="7322705"/>
          </a:xfrm>
          <a:prstGeom prst="rect">
            <a:avLst/>
          </a:prstGeom>
        </p:spPr>
      </p:pic>
      <p:pic>
        <p:nvPicPr>
          <p:cNvPr id="1110" name="Picture 1109" descr="A close-up of words&#10;&#10;AI-generated content may be incorrect.">
            <a:extLst>
              <a:ext uri="{FF2B5EF4-FFF2-40B4-BE49-F238E27FC236}">
                <a16:creationId xmlns:a16="http://schemas.microsoft.com/office/drawing/2014/main" id="{CE6939D6-E992-1F1C-80CF-BAE91CFA8D0F}"/>
              </a:ext>
            </a:extLst>
          </p:cNvPr>
          <p:cNvPicPr>
            <a:picLocks noChangeAspect="1"/>
          </p:cNvPicPr>
          <p:nvPr/>
        </p:nvPicPr>
        <p:blipFill>
          <a:blip r:embed="rId10"/>
          <a:stretch>
            <a:fillRect/>
          </a:stretch>
        </p:blipFill>
        <p:spPr>
          <a:xfrm>
            <a:off x="25920149" y="6187686"/>
            <a:ext cx="5464194" cy="7275904"/>
          </a:xfrm>
          <a:prstGeom prst="rect">
            <a:avLst/>
          </a:prstGeom>
        </p:spPr>
      </p:pic>
      <p:pic>
        <p:nvPicPr>
          <p:cNvPr id="1119" name="Picture 1118" descr="A diagram of a company&#10;&#10;AI-generated content may be incorrect.">
            <a:extLst>
              <a:ext uri="{FF2B5EF4-FFF2-40B4-BE49-F238E27FC236}">
                <a16:creationId xmlns:a16="http://schemas.microsoft.com/office/drawing/2014/main" id="{9215F71D-1D9F-E2A8-7FEE-9E4748714B9D}"/>
              </a:ext>
            </a:extLst>
          </p:cNvPr>
          <p:cNvPicPr>
            <a:picLocks noChangeAspect="1"/>
          </p:cNvPicPr>
          <p:nvPr/>
        </p:nvPicPr>
        <p:blipFill>
          <a:blip r:embed="rId11"/>
          <a:stretch>
            <a:fillRect/>
          </a:stretch>
        </p:blipFill>
        <p:spPr>
          <a:xfrm>
            <a:off x="1193347" y="12863448"/>
            <a:ext cx="8845426" cy="1528023"/>
          </a:xfrm>
          <a:prstGeom prst="rect">
            <a:avLst/>
          </a:prstGeom>
        </p:spPr>
      </p:pic>
      <p:sp>
        <p:nvSpPr>
          <p:cNvPr id="1120" name="TextBox 1119">
            <a:extLst>
              <a:ext uri="{FF2B5EF4-FFF2-40B4-BE49-F238E27FC236}">
                <a16:creationId xmlns:a16="http://schemas.microsoft.com/office/drawing/2014/main" id="{2D7437D6-28C5-E6BE-2ADA-27776A7AC621}"/>
              </a:ext>
            </a:extLst>
          </p:cNvPr>
          <p:cNvSpPr txBox="1"/>
          <p:nvPr/>
        </p:nvSpPr>
        <p:spPr>
          <a:xfrm>
            <a:off x="32521855" y="27149920"/>
            <a:ext cx="10827589" cy="5709255"/>
          </a:xfrm>
          <a:prstGeom prst="rect">
            <a:avLst/>
          </a:prstGeom>
          <a:noFill/>
        </p:spPr>
        <p:txBody>
          <a:bodyPr wrap="square" rtlCol="0">
            <a:spAutoFit/>
          </a:bodyPr>
          <a:lstStyle/>
          <a:p>
            <a:r>
              <a:rPr lang="en-US" sz="2500" dirty="0"/>
              <a:t>Jasanoff, S. (2004). Ordering knowledge, ordering society. In </a:t>
            </a:r>
            <a:r>
              <a:rPr lang="en-US" sz="2500" i="1" dirty="0"/>
              <a:t>States of</a:t>
            </a:r>
          </a:p>
          <a:p>
            <a:pPr lvl="1"/>
            <a:r>
              <a:rPr lang="en-US" sz="2500" i="1" dirty="0"/>
              <a:t>knowledge</a:t>
            </a:r>
            <a:r>
              <a:rPr lang="en-US" sz="2500" dirty="0"/>
              <a:t> (pp. 13-45). Routledge.</a:t>
            </a:r>
          </a:p>
          <a:p>
            <a:endParaRPr lang="en-US" sz="1000" dirty="0"/>
          </a:p>
          <a:p>
            <a:r>
              <a:rPr lang="en-US" sz="2500" dirty="0"/>
              <a:t>Hess, D. J. (2015). Undone science and social movements: A review and</a:t>
            </a:r>
          </a:p>
          <a:p>
            <a:pPr lvl="1"/>
            <a:r>
              <a:rPr lang="en-US" sz="2500" dirty="0"/>
              <a:t>typology. </a:t>
            </a:r>
            <a:r>
              <a:rPr lang="en-US" sz="2500" i="1" dirty="0"/>
              <a:t>Routledge international handbook of ignorance studies</a:t>
            </a:r>
            <a:r>
              <a:rPr lang="en-US" sz="2500" dirty="0"/>
              <a:t>, 141-154.</a:t>
            </a:r>
          </a:p>
          <a:p>
            <a:endParaRPr lang="en-US" sz="1000" dirty="0"/>
          </a:p>
          <a:p>
            <a:r>
              <a:rPr lang="en-US" sz="2500" dirty="0"/>
              <a:t>Lambert, J. (2025). </a:t>
            </a:r>
            <a:r>
              <a:rPr lang="en-US" sz="2500" i="1" dirty="0"/>
              <a:t>National Science Foundation fires roughly</a:t>
            </a:r>
          </a:p>
          <a:p>
            <a:pPr lvl="1"/>
            <a:r>
              <a:rPr lang="en-US" sz="2500" i="1" dirty="0"/>
              <a:t>10 % of its workforce</a:t>
            </a:r>
            <a:r>
              <a:rPr lang="en-US" sz="2500" dirty="0"/>
              <a:t>. NPR.</a:t>
            </a:r>
          </a:p>
          <a:p>
            <a:endParaRPr lang="en-US" sz="1000" dirty="0"/>
          </a:p>
          <a:p>
            <a:r>
              <a:rPr lang="en-US" sz="2500" dirty="0"/>
              <a:t>National Science Foundation. (2025). </a:t>
            </a:r>
            <a:r>
              <a:rPr lang="en-US" sz="2500" i="1" dirty="0"/>
              <a:t>Updates on NSF priorities</a:t>
            </a:r>
            <a:r>
              <a:rPr lang="en-US" sz="2500" dirty="0"/>
              <a:t>. </a:t>
            </a:r>
          </a:p>
          <a:p>
            <a:endParaRPr lang="en-US" sz="1000" dirty="0"/>
          </a:p>
          <a:p>
            <a:r>
              <a:rPr lang="en-US" sz="2500" dirty="0" err="1"/>
              <a:t>Yourish</a:t>
            </a:r>
            <a:r>
              <a:rPr lang="en-US" sz="2500" dirty="0"/>
              <a:t>, K., Daniel, A., Datar, S., White, I., &amp; Gamio, L. (2025, March 7). </a:t>
            </a:r>
            <a:r>
              <a:rPr lang="en-US" sz="2500" i="1" dirty="0"/>
              <a:t>These </a:t>
            </a:r>
          </a:p>
          <a:p>
            <a:pPr lvl="1"/>
            <a:r>
              <a:rPr lang="en-US" sz="2500" i="1" dirty="0"/>
              <a:t>words are disappearing in the new Trump administration</a:t>
            </a:r>
            <a:r>
              <a:rPr lang="en-US" sz="2500" dirty="0"/>
              <a:t>. </a:t>
            </a:r>
            <a:r>
              <a:rPr lang="en-US" sz="2500" i="1" dirty="0"/>
              <a:t>The New York Times</a:t>
            </a:r>
            <a:r>
              <a:rPr lang="en-US" sz="2500" dirty="0"/>
              <a:t>.</a:t>
            </a:r>
          </a:p>
          <a:p>
            <a:endParaRPr lang="en-US" sz="2500" dirty="0"/>
          </a:p>
          <a:p>
            <a:endParaRPr lang="en-US" sz="2500" dirty="0"/>
          </a:p>
          <a:p>
            <a:endParaRPr lang="en-US" sz="2500" dirty="0"/>
          </a:p>
        </p:txBody>
      </p:sp>
    </p:spTree>
    <p:extLst>
      <p:ext uri="{BB962C8B-B14F-4D97-AF65-F5344CB8AC3E}">
        <p14:creationId xmlns:p14="http://schemas.microsoft.com/office/powerpoint/2010/main" val="417088831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5364</TotalTime>
  <Words>1476</Words>
  <Application>Microsoft Macintosh PowerPoint</Application>
  <PresentationFormat>Custom</PresentationFormat>
  <Paragraphs>130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Georgia</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 Patrick Seely</dc:creator>
  <cp:lastModifiedBy>Ryan Patrick Seely</cp:lastModifiedBy>
  <cp:revision>14</cp:revision>
  <cp:lastPrinted>2025-08-07T01:01:43Z</cp:lastPrinted>
  <dcterms:created xsi:type="dcterms:W3CDTF">2025-08-03T19:39:39Z</dcterms:created>
  <dcterms:modified xsi:type="dcterms:W3CDTF">2025-08-07T13:04:33Z</dcterms:modified>
</cp:coreProperties>
</file>