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8206E"/>
    <a:srgbClr val="F2CFEE"/>
    <a:srgbClr val="C6C5F1"/>
    <a:srgbClr val="B7BBF1"/>
    <a:srgbClr val="3892CC"/>
    <a:srgbClr val="3186BD"/>
    <a:srgbClr val="DCEAF7"/>
    <a:srgbClr val="FFFFFF"/>
    <a:srgbClr val="A6CAEC"/>
    <a:srgbClr val="30A1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60"/>
    <p:restoredTop sz="94690"/>
  </p:normalViewPr>
  <p:slideViewPr>
    <p:cSldViewPr snapToGrid="0">
      <p:cViewPr>
        <p:scale>
          <a:sx n="30" d="100"/>
          <a:sy n="30" d="100"/>
        </p:scale>
        <p:origin x="656" y="4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E6644D-90AF-0F47-AA00-BC9A127DC21D}" type="datetimeFigureOut">
              <a:rPr lang="en-US" smtClean="0"/>
              <a:t>8/3/25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9452021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E6644D-90AF-0F47-AA00-BC9A127DC21D}" type="datetimeFigureOut">
              <a:rPr lang="en-US" smtClean="0"/>
              <a:t>8/3/25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26494774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E6644D-90AF-0F47-AA00-BC9A127DC21D}" type="datetimeFigureOut">
              <a:rPr lang="en-US" smtClean="0"/>
              <a:t>8/3/25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40097530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E6644D-90AF-0F47-AA00-BC9A127DC21D}" type="datetimeFigureOut">
              <a:rPr lang="en-US" smtClean="0"/>
              <a:t>8/3/25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16248584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E6644D-90AF-0F47-AA00-BC9A127DC21D}" type="datetimeFigureOut">
              <a:rPr lang="en-US" smtClean="0"/>
              <a:t>8/3/25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301691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E6644D-90AF-0F47-AA00-BC9A127DC21D}" type="datetimeFigureOut">
              <a:rPr lang="en-US" smtClean="0"/>
              <a:t>8/3/25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31510927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E6644D-90AF-0F47-AA00-BC9A127DC21D}" type="datetimeFigureOut">
              <a:rPr lang="en-US" smtClean="0"/>
              <a:t>8/3/25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169472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84E6644D-90AF-0F47-AA00-BC9A127DC21D}" type="datetimeFigureOut">
              <a:rPr lang="en-US" smtClean="0"/>
              <a:t>8/3/25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39264481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84E6644D-90AF-0F47-AA00-BC9A127DC21D}" type="datetimeFigureOut">
              <a:rPr lang="en-US" smtClean="0"/>
              <a:t>8/3/25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2118977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E6644D-90AF-0F47-AA00-BC9A127DC21D}" type="datetimeFigureOut">
              <a:rPr lang="en-US" smtClean="0"/>
              <a:t>8/3/25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28302504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E6644D-90AF-0F47-AA00-BC9A127DC21D}" type="datetimeFigureOut">
              <a:rPr lang="en-US" smtClean="0"/>
              <a:t>8/3/25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42423285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84E6644D-90AF-0F47-AA00-BC9A127DC21D}" type="datetimeFigureOut">
              <a:rPr lang="en-US" smtClean="0"/>
              <a:t>8/3/25</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1FE92580-941F-C34A-A8BD-1023136D0FA8}" type="slidenum">
              <a:rPr lang="en-US" smtClean="0"/>
              <a:t>‹#›</a:t>
            </a:fld>
            <a:endParaRPr lang="en-US"/>
          </a:p>
        </p:txBody>
      </p:sp>
    </p:spTree>
    <p:extLst>
      <p:ext uri="{BB962C8B-B14F-4D97-AF65-F5344CB8AC3E}">
        <p14:creationId xmlns:p14="http://schemas.microsoft.com/office/powerpoint/2010/main" val="1872212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alpha val="49020"/>
          </a:schemeClr>
        </a:solidFill>
        <a:effectLst/>
      </p:bgPr>
    </p:bg>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5EEBE7A6-604B-E8BC-F661-71BF19DAECB8}"/>
              </a:ext>
            </a:extLst>
          </p:cNvPr>
          <p:cNvSpPr/>
          <p:nvPr/>
        </p:nvSpPr>
        <p:spPr>
          <a:xfrm>
            <a:off x="0" y="307678"/>
            <a:ext cx="43891200" cy="4319224"/>
          </a:xfrm>
          <a:prstGeom prst="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119BC6D5-D3A4-5F87-145A-2F3EE142A400}"/>
              </a:ext>
            </a:extLst>
          </p:cNvPr>
          <p:cNvSpPr txBox="1">
            <a:spLocks/>
          </p:cNvSpPr>
          <p:nvPr/>
        </p:nvSpPr>
        <p:spPr>
          <a:xfrm>
            <a:off x="7621325" y="496156"/>
            <a:ext cx="29659490" cy="4049463"/>
          </a:xfrm>
          <a:prstGeom prst="rect">
            <a:avLst/>
          </a:prstGeom>
          <a:noFill/>
          <a:ln>
            <a:noFill/>
          </a:ln>
        </p:spPr>
        <p:txBody>
          <a:bodyPr vert="horz" lIns="91440" tIns="45720" rIns="91440" bIns="45720" rtlCol="0" anchor="ctr" anchorCtr="0">
            <a:normAutofit/>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r>
              <a:rPr lang="en-US" sz="8000" b="1" dirty="0">
                <a:solidFill>
                  <a:schemeClr val="bg1"/>
                </a:solidFill>
                <a:latin typeface="Georgia" panose="02040502050405020303" pitchFamily="18" charset="0"/>
              </a:rPr>
              <a:t>Reading Between the Abstracts: A Textual Analysis of the Political Impacts on NSF-Funded Research</a:t>
            </a:r>
          </a:p>
          <a:p>
            <a:r>
              <a:rPr lang="en-US" sz="4000" dirty="0">
                <a:solidFill>
                  <a:schemeClr val="bg1"/>
                </a:solidFill>
                <a:latin typeface="Georgia" panose="02040502050405020303" pitchFamily="18" charset="0"/>
              </a:rPr>
              <a:t>Ryan Seely, advised by Dr. Jeffrey Stanton</a:t>
            </a:r>
          </a:p>
          <a:p>
            <a:r>
              <a:rPr lang="en-US" sz="4000" dirty="0">
                <a:solidFill>
                  <a:schemeClr val="bg1"/>
                </a:solidFill>
                <a:latin typeface="Georgia" panose="02040502050405020303" pitchFamily="18" charset="0"/>
              </a:rPr>
              <a:t>School of Information Studies REU Program 2025 </a:t>
            </a:r>
          </a:p>
        </p:txBody>
      </p:sp>
      <p:sp>
        <p:nvSpPr>
          <p:cNvPr id="8" name="Title 1">
            <a:extLst>
              <a:ext uri="{FF2B5EF4-FFF2-40B4-BE49-F238E27FC236}">
                <a16:creationId xmlns:a16="http://schemas.microsoft.com/office/drawing/2014/main" id="{0CFCE73F-5C5E-7485-5A7E-E44467D7F2F0}"/>
              </a:ext>
            </a:extLst>
          </p:cNvPr>
          <p:cNvSpPr txBox="1">
            <a:spLocks/>
          </p:cNvSpPr>
          <p:nvPr/>
        </p:nvSpPr>
        <p:spPr>
          <a:xfrm>
            <a:off x="11273272" y="5406614"/>
            <a:ext cx="20578328" cy="26480218"/>
          </a:xfrm>
          <a:prstGeom prst="rect">
            <a:avLst/>
          </a:prstGeom>
          <a:solidFill>
            <a:srgbClr val="F2CFEE">
              <a:alpha val="25098"/>
            </a:srgbClr>
          </a:solidFill>
          <a:ln>
            <a:solidFill>
              <a:schemeClr val="bg1"/>
            </a:solidFill>
          </a:ln>
        </p:spPr>
        <p:txBody>
          <a:bodyPr vert="horz" lIns="91440" tIns="45720" rIns="91440" bIns="45720" rtlCol="0" anchor="t">
            <a:normAutofit/>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pPr algn="l"/>
            <a:endParaRPr lang="en-US" sz="5000" dirty="0">
              <a:latin typeface="Georgia" panose="02040502050405020303" pitchFamily="18" charset="0"/>
            </a:endParaRPr>
          </a:p>
          <a:p>
            <a:pPr algn="l"/>
            <a:endParaRPr lang="en-US" sz="5000" dirty="0">
              <a:latin typeface="Georgia" panose="02040502050405020303" pitchFamily="18" charset="0"/>
            </a:endParaRPr>
          </a:p>
        </p:txBody>
      </p:sp>
      <p:sp>
        <p:nvSpPr>
          <p:cNvPr id="24" name="Title 1">
            <a:extLst>
              <a:ext uri="{FF2B5EF4-FFF2-40B4-BE49-F238E27FC236}">
                <a16:creationId xmlns:a16="http://schemas.microsoft.com/office/drawing/2014/main" id="{1EF2658F-C94B-3796-9CEF-D8E17A071690}"/>
              </a:ext>
            </a:extLst>
          </p:cNvPr>
          <p:cNvSpPr txBox="1">
            <a:spLocks/>
          </p:cNvSpPr>
          <p:nvPr/>
        </p:nvSpPr>
        <p:spPr>
          <a:xfrm>
            <a:off x="32338699" y="27819461"/>
            <a:ext cx="11079534" cy="4067370"/>
          </a:xfrm>
          <a:prstGeom prst="rect">
            <a:avLst/>
          </a:prstGeom>
          <a:solidFill>
            <a:srgbClr val="F2CFEE">
              <a:alpha val="25098"/>
            </a:srgbClr>
          </a:solidFill>
          <a:ln>
            <a:solidFill>
              <a:schemeClr val="bg1"/>
            </a:solidFill>
          </a:ln>
        </p:spPr>
        <p:txBody>
          <a:bodyPr vert="horz" lIns="91440" tIns="45720" rIns="91440" bIns="45720" rtlCol="0" anchor="t">
            <a:normAutofit/>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pPr algn="l"/>
            <a:endParaRPr lang="en-US" sz="5000" b="1" dirty="0">
              <a:latin typeface="Georgia" panose="02040502050405020303" pitchFamily="18" charset="0"/>
            </a:endParaRPr>
          </a:p>
        </p:txBody>
      </p:sp>
      <p:sp>
        <p:nvSpPr>
          <p:cNvPr id="36" name="Title 1">
            <a:extLst>
              <a:ext uri="{FF2B5EF4-FFF2-40B4-BE49-F238E27FC236}">
                <a16:creationId xmlns:a16="http://schemas.microsoft.com/office/drawing/2014/main" id="{EF2300AB-9B2D-CA75-2E05-3FA08DC3E478}"/>
              </a:ext>
            </a:extLst>
          </p:cNvPr>
          <p:cNvSpPr txBox="1">
            <a:spLocks/>
          </p:cNvSpPr>
          <p:nvPr/>
        </p:nvSpPr>
        <p:spPr>
          <a:xfrm>
            <a:off x="604787" y="5406614"/>
            <a:ext cx="10106756" cy="13105238"/>
          </a:xfrm>
          <a:prstGeom prst="rect">
            <a:avLst/>
          </a:prstGeom>
          <a:solidFill>
            <a:srgbClr val="F2CFEE">
              <a:alpha val="25098"/>
            </a:srgbClr>
          </a:solidFill>
          <a:ln>
            <a:solidFill>
              <a:schemeClr val="bg1"/>
            </a:solidFill>
          </a:ln>
        </p:spPr>
        <p:txBody>
          <a:bodyPr vert="horz" lIns="91440" tIns="45720" rIns="91440" bIns="45720" rtlCol="0" anchor="t">
            <a:normAutofit/>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pPr algn="l"/>
            <a:endParaRPr lang="en-US" sz="3350" dirty="0">
              <a:latin typeface="Georgia" panose="02040502050405020303" pitchFamily="18" charset="0"/>
            </a:endParaRPr>
          </a:p>
          <a:p>
            <a:pPr algn="l"/>
            <a:endParaRPr lang="en-US" sz="5000" dirty="0">
              <a:latin typeface="Georgia" panose="02040502050405020303" pitchFamily="18" charset="0"/>
            </a:endParaRPr>
          </a:p>
        </p:txBody>
      </p:sp>
      <p:sp>
        <p:nvSpPr>
          <p:cNvPr id="37" name="Title 1">
            <a:extLst>
              <a:ext uri="{FF2B5EF4-FFF2-40B4-BE49-F238E27FC236}">
                <a16:creationId xmlns:a16="http://schemas.microsoft.com/office/drawing/2014/main" id="{9959A9DD-0A47-91A3-0295-D974A142237F}"/>
              </a:ext>
            </a:extLst>
          </p:cNvPr>
          <p:cNvSpPr txBox="1">
            <a:spLocks/>
          </p:cNvSpPr>
          <p:nvPr/>
        </p:nvSpPr>
        <p:spPr>
          <a:xfrm>
            <a:off x="32395884" y="5406614"/>
            <a:ext cx="11079535" cy="22412847"/>
          </a:xfrm>
          <a:prstGeom prst="rect">
            <a:avLst/>
          </a:prstGeom>
          <a:solidFill>
            <a:srgbClr val="F2CFEE">
              <a:alpha val="25098"/>
            </a:srgbClr>
          </a:solidFill>
          <a:ln>
            <a:solidFill>
              <a:schemeClr val="bg1"/>
            </a:solidFill>
          </a:ln>
        </p:spPr>
        <p:txBody>
          <a:bodyPr vert="horz" lIns="91440" tIns="45720" rIns="91440" bIns="45720" rtlCol="0" anchor="t">
            <a:normAutofit/>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pPr algn="l"/>
            <a:endParaRPr lang="en-US" sz="5000" b="1" dirty="0">
              <a:latin typeface="Georgia" panose="02040502050405020303" pitchFamily="18" charset="0"/>
            </a:endParaRPr>
          </a:p>
        </p:txBody>
      </p:sp>
      <p:sp>
        <p:nvSpPr>
          <p:cNvPr id="40" name="Title 1">
            <a:extLst>
              <a:ext uri="{FF2B5EF4-FFF2-40B4-BE49-F238E27FC236}">
                <a16:creationId xmlns:a16="http://schemas.microsoft.com/office/drawing/2014/main" id="{8B0DFCCC-B8D9-2FF6-C8D1-EBEEB0BF1582}"/>
              </a:ext>
            </a:extLst>
          </p:cNvPr>
          <p:cNvSpPr txBox="1">
            <a:spLocks/>
          </p:cNvSpPr>
          <p:nvPr/>
        </p:nvSpPr>
        <p:spPr>
          <a:xfrm>
            <a:off x="-1" y="32204550"/>
            <a:ext cx="43891199" cy="713848"/>
          </a:xfrm>
          <a:prstGeom prst="rect">
            <a:avLst/>
          </a:prstGeom>
          <a:solidFill>
            <a:schemeClr val="accent5">
              <a:lumMod val="75000"/>
            </a:schemeClr>
          </a:solidFill>
        </p:spPr>
        <p:txBody>
          <a:bodyPr vert="horz" lIns="91440" tIns="45720" rIns="91440" bIns="45720" rtlCol="0" anchor="ctr" anchorCtr="0">
            <a:normAutofit fontScale="70000" lnSpcReduction="20000"/>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endParaRPr lang="en-US" sz="8000" dirty="0">
              <a:solidFill>
                <a:schemeClr val="bg1"/>
              </a:solidFill>
              <a:latin typeface="Georgia" panose="02040502050405020303" pitchFamily="18" charset="0"/>
            </a:endParaRPr>
          </a:p>
        </p:txBody>
      </p:sp>
      <p:sp>
        <p:nvSpPr>
          <p:cNvPr id="41" name="Rectangle 40">
            <a:extLst>
              <a:ext uri="{FF2B5EF4-FFF2-40B4-BE49-F238E27FC236}">
                <a16:creationId xmlns:a16="http://schemas.microsoft.com/office/drawing/2014/main" id="{49F0FAEF-C58F-00E6-33CC-7EB81267CCC4}"/>
              </a:ext>
            </a:extLst>
          </p:cNvPr>
          <p:cNvSpPr/>
          <p:nvPr/>
        </p:nvSpPr>
        <p:spPr>
          <a:xfrm>
            <a:off x="0" y="4456331"/>
            <a:ext cx="43891200" cy="341142"/>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8D3CAF6D-7BB1-296B-762E-63EFA201DB14}"/>
              </a:ext>
            </a:extLst>
          </p:cNvPr>
          <p:cNvSpPr/>
          <p:nvPr/>
        </p:nvSpPr>
        <p:spPr>
          <a:xfrm>
            <a:off x="0" y="-33464"/>
            <a:ext cx="43891200" cy="341142"/>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FB960F36-3971-1504-A394-84407FF91DDD}"/>
              </a:ext>
            </a:extLst>
          </p:cNvPr>
          <p:cNvSpPr/>
          <p:nvPr/>
        </p:nvSpPr>
        <p:spPr>
          <a:xfrm>
            <a:off x="-2" y="32138686"/>
            <a:ext cx="43891200" cy="170571"/>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a:extLst>
              <a:ext uri="{FF2B5EF4-FFF2-40B4-BE49-F238E27FC236}">
                <a16:creationId xmlns:a16="http://schemas.microsoft.com/office/drawing/2014/main" id="{4F454718-2952-6D0B-75AC-D351578FB2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5780" y="648820"/>
            <a:ext cx="6350000" cy="3568700"/>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46" descr="A blue globe with white text&#10;&#10;AI-generated content may be incorrect.">
            <a:extLst>
              <a:ext uri="{FF2B5EF4-FFF2-40B4-BE49-F238E27FC236}">
                <a16:creationId xmlns:a16="http://schemas.microsoft.com/office/drawing/2014/main" id="{D749128D-2143-1060-403A-94C5400D0B8F}"/>
              </a:ext>
            </a:extLst>
          </p:cNvPr>
          <p:cNvPicPr>
            <a:picLocks noChangeAspect="1"/>
          </p:cNvPicPr>
          <p:nvPr/>
        </p:nvPicPr>
        <p:blipFill>
          <a:blip r:embed="rId3"/>
          <a:stretch>
            <a:fillRect/>
          </a:stretch>
        </p:blipFill>
        <p:spPr>
          <a:xfrm>
            <a:off x="37045079" y="364679"/>
            <a:ext cx="6226312" cy="4034650"/>
          </a:xfrm>
          <a:prstGeom prst="rect">
            <a:avLst/>
          </a:prstGeom>
        </p:spPr>
      </p:pic>
      <p:sp>
        <p:nvSpPr>
          <p:cNvPr id="53" name="Title 1">
            <a:extLst>
              <a:ext uri="{FF2B5EF4-FFF2-40B4-BE49-F238E27FC236}">
                <a16:creationId xmlns:a16="http://schemas.microsoft.com/office/drawing/2014/main" id="{B8F21E36-6685-5425-DA82-8E02EDA9F5F9}"/>
              </a:ext>
            </a:extLst>
          </p:cNvPr>
          <p:cNvSpPr txBox="1">
            <a:spLocks/>
          </p:cNvSpPr>
          <p:nvPr/>
        </p:nvSpPr>
        <p:spPr>
          <a:xfrm>
            <a:off x="619808" y="18453494"/>
            <a:ext cx="10106756" cy="13433337"/>
          </a:xfrm>
          <a:prstGeom prst="rect">
            <a:avLst/>
          </a:prstGeom>
          <a:solidFill>
            <a:srgbClr val="F2CFEE">
              <a:alpha val="25098"/>
            </a:srgbClr>
          </a:solidFill>
          <a:ln>
            <a:solidFill>
              <a:schemeClr val="bg1"/>
            </a:solidFill>
          </a:ln>
        </p:spPr>
        <p:txBody>
          <a:bodyPr vert="horz" lIns="91440" tIns="45720" rIns="91440" bIns="45720" rtlCol="0" anchor="t">
            <a:normAutofit/>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pPr algn="l"/>
            <a:endParaRPr lang="en-US" sz="5000" b="1" dirty="0">
              <a:latin typeface="Georgia" panose="02040502050405020303" pitchFamily="18" charset="0"/>
            </a:endParaRPr>
          </a:p>
          <a:p>
            <a:pPr algn="l"/>
            <a:endParaRPr lang="en-US" sz="3350" dirty="0">
              <a:latin typeface="Georgia" panose="02040502050405020303" pitchFamily="18" charset="0"/>
            </a:endParaRPr>
          </a:p>
          <a:p>
            <a:pPr algn="l"/>
            <a:endParaRPr lang="en-US" sz="5000" dirty="0">
              <a:latin typeface="Georgia" panose="02040502050405020303" pitchFamily="18" charset="0"/>
            </a:endParaRPr>
          </a:p>
        </p:txBody>
      </p:sp>
      <p:sp>
        <p:nvSpPr>
          <p:cNvPr id="54" name="TextBox 53">
            <a:extLst>
              <a:ext uri="{FF2B5EF4-FFF2-40B4-BE49-F238E27FC236}">
                <a16:creationId xmlns:a16="http://schemas.microsoft.com/office/drawing/2014/main" id="{1677F278-86CF-8EBD-90AC-499920E2788D}"/>
              </a:ext>
            </a:extLst>
          </p:cNvPr>
          <p:cNvSpPr txBox="1"/>
          <p:nvPr/>
        </p:nvSpPr>
        <p:spPr>
          <a:xfrm>
            <a:off x="604787" y="5406614"/>
            <a:ext cx="10106756"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Context</a:t>
            </a:r>
          </a:p>
          <a:p>
            <a:pPr algn="ctr"/>
            <a:endParaRPr lang="en-US" dirty="0"/>
          </a:p>
        </p:txBody>
      </p:sp>
      <p:sp>
        <p:nvSpPr>
          <p:cNvPr id="55" name="TextBox 54">
            <a:extLst>
              <a:ext uri="{FF2B5EF4-FFF2-40B4-BE49-F238E27FC236}">
                <a16:creationId xmlns:a16="http://schemas.microsoft.com/office/drawing/2014/main" id="{59D41AD2-4876-2230-013D-B2BCC00ED528}"/>
              </a:ext>
            </a:extLst>
          </p:cNvPr>
          <p:cNvSpPr txBox="1"/>
          <p:nvPr/>
        </p:nvSpPr>
        <p:spPr>
          <a:xfrm>
            <a:off x="11273272" y="5417073"/>
            <a:ext cx="20578328"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Significant Word Changes</a:t>
            </a:r>
          </a:p>
          <a:p>
            <a:pPr algn="ctr"/>
            <a:endParaRPr lang="en-US" dirty="0"/>
          </a:p>
        </p:txBody>
      </p:sp>
      <p:sp>
        <p:nvSpPr>
          <p:cNvPr id="56" name="TextBox 55">
            <a:extLst>
              <a:ext uri="{FF2B5EF4-FFF2-40B4-BE49-F238E27FC236}">
                <a16:creationId xmlns:a16="http://schemas.microsoft.com/office/drawing/2014/main" id="{85F5CD0A-45D3-10E6-5A20-6216A224D68A}"/>
              </a:ext>
            </a:extLst>
          </p:cNvPr>
          <p:cNvSpPr txBox="1"/>
          <p:nvPr/>
        </p:nvSpPr>
        <p:spPr>
          <a:xfrm>
            <a:off x="619807" y="18511852"/>
            <a:ext cx="10106756"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Funding Changes</a:t>
            </a:r>
          </a:p>
          <a:p>
            <a:pPr algn="ctr"/>
            <a:endParaRPr lang="en-US" dirty="0"/>
          </a:p>
        </p:txBody>
      </p:sp>
      <p:sp>
        <p:nvSpPr>
          <p:cNvPr id="57" name="TextBox 56">
            <a:extLst>
              <a:ext uri="{FF2B5EF4-FFF2-40B4-BE49-F238E27FC236}">
                <a16:creationId xmlns:a16="http://schemas.microsoft.com/office/drawing/2014/main" id="{4736EC95-F04C-8F11-E29C-A3DF5D10C0FE}"/>
              </a:ext>
            </a:extLst>
          </p:cNvPr>
          <p:cNvSpPr txBox="1"/>
          <p:nvPr/>
        </p:nvSpPr>
        <p:spPr>
          <a:xfrm>
            <a:off x="11255827" y="12303057"/>
            <a:ext cx="20578328"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Lexical Change</a:t>
            </a:r>
          </a:p>
          <a:p>
            <a:pPr algn="ctr"/>
            <a:endParaRPr lang="en-US" dirty="0"/>
          </a:p>
        </p:txBody>
      </p:sp>
      <p:sp>
        <p:nvSpPr>
          <p:cNvPr id="58" name="TextBox 57">
            <a:extLst>
              <a:ext uri="{FF2B5EF4-FFF2-40B4-BE49-F238E27FC236}">
                <a16:creationId xmlns:a16="http://schemas.microsoft.com/office/drawing/2014/main" id="{CA267B55-56B6-A228-CB74-DF5005DEF957}"/>
              </a:ext>
            </a:extLst>
          </p:cNvPr>
          <p:cNvSpPr txBox="1"/>
          <p:nvPr/>
        </p:nvSpPr>
        <p:spPr>
          <a:xfrm>
            <a:off x="11290717" y="21082098"/>
            <a:ext cx="20578328"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Presence of “Banned Words”</a:t>
            </a:r>
          </a:p>
          <a:p>
            <a:pPr algn="ctr"/>
            <a:endParaRPr lang="en-US" dirty="0"/>
          </a:p>
        </p:txBody>
      </p:sp>
      <p:sp>
        <p:nvSpPr>
          <p:cNvPr id="59" name="TextBox 58">
            <a:extLst>
              <a:ext uri="{FF2B5EF4-FFF2-40B4-BE49-F238E27FC236}">
                <a16:creationId xmlns:a16="http://schemas.microsoft.com/office/drawing/2014/main" id="{F3C4B400-4D4A-8F98-8DFC-9EA6FA256DA5}"/>
              </a:ext>
            </a:extLst>
          </p:cNvPr>
          <p:cNvSpPr txBox="1"/>
          <p:nvPr/>
        </p:nvSpPr>
        <p:spPr>
          <a:xfrm>
            <a:off x="32413329" y="5406613"/>
            <a:ext cx="11062090"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Discussion</a:t>
            </a:r>
          </a:p>
          <a:p>
            <a:pPr algn="ctr"/>
            <a:endParaRPr lang="en-US" dirty="0"/>
          </a:p>
        </p:txBody>
      </p:sp>
      <p:sp>
        <p:nvSpPr>
          <p:cNvPr id="61" name="TextBox 60">
            <a:extLst>
              <a:ext uri="{FF2B5EF4-FFF2-40B4-BE49-F238E27FC236}">
                <a16:creationId xmlns:a16="http://schemas.microsoft.com/office/drawing/2014/main" id="{E2C702A2-2242-94DE-30D3-B54515150E68}"/>
              </a:ext>
            </a:extLst>
          </p:cNvPr>
          <p:cNvSpPr txBox="1"/>
          <p:nvPr/>
        </p:nvSpPr>
        <p:spPr>
          <a:xfrm>
            <a:off x="32338699" y="27819461"/>
            <a:ext cx="11079534"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References</a:t>
            </a:r>
          </a:p>
          <a:p>
            <a:pPr algn="ctr"/>
            <a:endParaRPr lang="en-US" dirty="0"/>
          </a:p>
        </p:txBody>
      </p:sp>
      <p:pic>
        <p:nvPicPr>
          <p:cNvPr id="63" name="Picture 62" descr="A graph with numbers and a number of years&#10;&#10;AI-generated content may be incorrect.">
            <a:extLst>
              <a:ext uri="{FF2B5EF4-FFF2-40B4-BE49-F238E27FC236}">
                <a16:creationId xmlns:a16="http://schemas.microsoft.com/office/drawing/2014/main" id="{3AC22657-F5F8-5E12-445D-BA382A652377}"/>
              </a:ext>
            </a:extLst>
          </p:cNvPr>
          <p:cNvPicPr>
            <a:picLocks noChangeAspect="1"/>
          </p:cNvPicPr>
          <p:nvPr/>
        </p:nvPicPr>
        <p:blipFill>
          <a:blip r:embed="rId4"/>
          <a:stretch>
            <a:fillRect/>
          </a:stretch>
        </p:blipFill>
        <p:spPr>
          <a:xfrm>
            <a:off x="22315284" y="22372752"/>
            <a:ext cx="9321893" cy="3680106"/>
          </a:xfrm>
          <a:prstGeom prst="rect">
            <a:avLst/>
          </a:prstGeom>
        </p:spPr>
      </p:pic>
      <p:pic>
        <p:nvPicPr>
          <p:cNvPr id="1031" name="Picture 1030" descr="A graph with numbers and a number of words&#10;&#10;AI-generated content may be incorrect.">
            <a:extLst>
              <a:ext uri="{FF2B5EF4-FFF2-40B4-BE49-F238E27FC236}">
                <a16:creationId xmlns:a16="http://schemas.microsoft.com/office/drawing/2014/main" id="{B1F356C7-26DA-694B-FB3D-BC662E4AF001}"/>
              </a:ext>
            </a:extLst>
          </p:cNvPr>
          <p:cNvPicPr>
            <a:picLocks noChangeAspect="1"/>
          </p:cNvPicPr>
          <p:nvPr/>
        </p:nvPicPr>
        <p:blipFill>
          <a:blip r:embed="rId5"/>
          <a:stretch>
            <a:fillRect/>
          </a:stretch>
        </p:blipFill>
        <p:spPr>
          <a:xfrm>
            <a:off x="11333219" y="26052858"/>
            <a:ext cx="10810216" cy="5706321"/>
          </a:xfrm>
          <a:prstGeom prst="rect">
            <a:avLst/>
          </a:prstGeom>
        </p:spPr>
      </p:pic>
      <p:pic>
        <p:nvPicPr>
          <p:cNvPr id="1035" name="Picture 1034" descr="A graph with a line going up&#10;&#10;AI-generated content may be incorrect.">
            <a:extLst>
              <a:ext uri="{FF2B5EF4-FFF2-40B4-BE49-F238E27FC236}">
                <a16:creationId xmlns:a16="http://schemas.microsoft.com/office/drawing/2014/main" id="{C6CE2A35-27B9-DA8A-FF1B-77841DE8FEC8}"/>
              </a:ext>
            </a:extLst>
          </p:cNvPr>
          <p:cNvPicPr>
            <a:picLocks noChangeAspect="1"/>
          </p:cNvPicPr>
          <p:nvPr/>
        </p:nvPicPr>
        <p:blipFill>
          <a:blip r:embed="rId6"/>
          <a:stretch>
            <a:fillRect/>
          </a:stretch>
        </p:blipFill>
        <p:spPr>
          <a:xfrm>
            <a:off x="21945600" y="13507694"/>
            <a:ext cx="9691577" cy="3963390"/>
          </a:xfrm>
          <a:prstGeom prst="rect">
            <a:avLst/>
          </a:prstGeom>
        </p:spPr>
      </p:pic>
      <p:pic>
        <p:nvPicPr>
          <p:cNvPr id="1043" name="Picture 1042" descr="A graph of purple and pink bars&#10;&#10;AI-generated content may be incorrect.">
            <a:extLst>
              <a:ext uri="{FF2B5EF4-FFF2-40B4-BE49-F238E27FC236}">
                <a16:creationId xmlns:a16="http://schemas.microsoft.com/office/drawing/2014/main" id="{C5305AB1-BEC4-D42F-EFC6-325BE0D22772}"/>
              </a:ext>
            </a:extLst>
          </p:cNvPr>
          <p:cNvPicPr>
            <a:picLocks noChangeAspect="1"/>
          </p:cNvPicPr>
          <p:nvPr/>
        </p:nvPicPr>
        <p:blipFill>
          <a:blip r:embed="rId7"/>
          <a:stretch>
            <a:fillRect/>
          </a:stretch>
        </p:blipFill>
        <p:spPr>
          <a:xfrm>
            <a:off x="5657850" y="25991189"/>
            <a:ext cx="4817799" cy="5567543"/>
          </a:xfrm>
          <a:prstGeom prst="rect">
            <a:avLst/>
          </a:prstGeom>
        </p:spPr>
      </p:pic>
      <p:pic>
        <p:nvPicPr>
          <p:cNvPr id="1045" name="Picture 1044" descr="A graph of a bar chart&#10;&#10;AI-generated content may be incorrect.">
            <a:extLst>
              <a:ext uri="{FF2B5EF4-FFF2-40B4-BE49-F238E27FC236}">
                <a16:creationId xmlns:a16="http://schemas.microsoft.com/office/drawing/2014/main" id="{85A22B90-FA86-2EDC-38F9-591EE6186CD5}"/>
              </a:ext>
            </a:extLst>
          </p:cNvPr>
          <p:cNvPicPr>
            <a:picLocks noChangeAspect="1"/>
          </p:cNvPicPr>
          <p:nvPr/>
        </p:nvPicPr>
        <p:blipFill>
          <a:blip r:embed="rId8"/>
          <a:stretch>
            <a:fillRect/>
          </a:stretch>
        </p:blipFill>
        <p:spPr>
          <a:xfrm>
            <a:off x="5657850" y="20117837"/>
            <a:ext cx="4817799" cy="5593077"/>
          </a:xfrm>
          <a:prstGeom prst="rect">
            <a:avLst/>
          </a:prstGeom>
        </p:spPr>
      </p:pic>
      <p:pic>
        <p:nvPicPr>
          <p:cNvPr id="1051" name="Picture 1050" descr="A graph of a graph&#10;&#10;AI-generated content may be incorrect.">
            <a:extLst>
              <a:ext uri="{FF2B5EF4-FFF2-40B4-BE49-F238E27FC236}">
                <a16:creationId xmlns:a16="http://schemas.microsoft.com/office/drawing/2014/main" id="{A5C61D11-53C0-4DB3-4FD2-A2BFFDE7C4E5}"/>
              </a:ext>
            </a:extLst>
          </p:cNvPr>
          <p:cNvPicPr>
            <a:picLocks noChangeAspect="1"/>
          </p:cNvPicPr>
          <p:nvPr/>
        </p:nvPicPr>
        <p:blipFill>
          <a:blip r:embed="rId9"/>
          <a:stretch>
            <a:fillRect/>
          </a:stretch>
        </p:blipFill>
        <p:spPr>
          <a:xfrm>
            <a:off x="27460575" y="6727941"/>
            <a:ext cx="4139182" cy="5336054"/>
          </a:xfrm>
          <a:prstGeom prst="rect">
            <a:avLst/>
          </a:prstGeom>
        </p:spPr>
      </p:pic>
      <p:pic>
        <p:nvPicPr>
          <p:cNvPr id="1054" name="Picture 1053" descr="A graph of a number of different colored bars&#10;&#10;AI-generated content may be incorrect.">
            <a:extLst>
              <a:ext uri="{FF2B5EF4-FFF2-40B4-BE49-F238E27FC236}">
                <a16:creationId xmlns:a16="http://schemas.microsoft.com/office/drawing/2014/main" id="{5B66C5E3-953E-96E6-0DF1-7AF139AE4816}"/>
              </a:ext>
            </a:extLst>
          </p:cNvPr>
          <p:cNvPicPr>
            <a:picLocks noChangeAspect="1"/>
          </p:cNvPicPr>
          <p:nvPr/>
        </p:nvPicPr>
        <p:blipFill>
          <a:blip r:embed="rId10"/>
          <a:stretch>
            <a:fillRect/>
          </a:stretch>
        </p:blipFill>
        <p:spPr>
          <a:xfrm>
            <a:off x="21945600" y="6688563"/>
            <a:ext cx="5234110" cy="5376891"/>
          </a:xfrm>
          <a:prstGeom prst="rect">
            <a:avLst/>
          </a:prstGeom>
        </p:spPr>
      </p:pic>
      <p:pic>
        <p:nvPicPr>
          <p:cNvPr id="1056" name="Picture 1055" descr="A graph with a line and a line&#10;&#10;AI-generated content may be incorrect.">
            <a:extLst>
              <a:ext uri="{FF2B5EF4-FFF2-40B4-BE49-F238E27FC236}">
                <a16:creationId xmlns:a16="http://schemas.microsoft.com/office/drawing/2014/main" id="{01861FBF-4260-C945-6116-6C72C1AF258C}"/>
              </a:ext>
            </a:extLst>
          </p:cNvPr>
          <p:cNvPicPr>
            <a:picLocks noChangeAspect="1"/>
          </p:cNvPicPr>
          <p:nvPr/>
        </p:nvPicPr>
        <p:blipFill>
          <a:blip r:embed="rId11"/>
          <a:stretch>
            <a:fillRect/>
          </a:stretch>
        </p:blipFill>
        <p:spPr>
          <a:xfrm>
            <a:off x="21945600" y="17650060"/>
            <a:ext cx="9691577" cy="3180184"/>
          </a:xfrm>
          <a:prstGeom prst="rect">
            <a:avLst/>
          </a:prstGeom>
        </p:spPr>
      </p:pic>
      <p:sp>
        <p:nvSpPr>
          <p:cNvPr id="1057" name="TextBox 1056">
            <a:extLst>
              <a:ext uri="{FF2B5EF4-FFF2-40B4-BE49-F238E27FC236}">
                <a16:creationId xmlns:a16="http://schemas.microsoft.com/office/drawing/2014/main" id="{3B6C9F92-C275-B5B2-A4A4-FE28018FD344}"/>
              </a:ext>
            </a:extLst>
          </p:cNvPr>
          <p:cNvSpPr txBox="1"/>
          <p:nvPr/>
        </p:nvSpPr>
        <p:spPr>
          <a:xfrm>
            <a:off x="11333219" y="6727941"/>
            <a:ext cx="10397958" cy="5878532"/>
          </a:xfrm>
          <a:prstGeom prst="rect">
            <a:avLst/>
          </a:prstGeom>
          <a:noFill/>
        </p:spPr>
        <p:txBody>
          <a:bodyPr wrap="square" rtlCol="0">
            <a:spAutoFit/>
          </a:bodyPr>
          <a:lstStyle/>
          <a:p>
            <a:r>
              <a:rPr lang="en-US" sz="2000" dirty="0"/>
              <a:t>In order to track what words change significantly in their usage and importance between 2024 and 2025, I calculate TF-IDF values of all words in each document across both years. This method allows for comparison in how word importance changes from year to year, as well as for analysis on how much the content distributions of abstracts change from year to year.</a:t>
            </a:r>
          </a:p>
          <a:p>
            <a:br>
              <a:rPr lang="en-US" sz="2000" dirty="0"/>
            </a:br>
            <a:r>
              <a:rPr lang="en-US" sz="2000" dirty="0"/>
              <a:t>From the January 21 to June 30 of 2024 to 2025, there are 29 words that decrease significantly (adjusted p-value &lt; 0.05) in their TF-IDF scores, many of them having to do with education, DEI, and the environment, which are three key areas in which the Trump administration is restricting funding, for the NSF and across the federal government. The significance of these decreases was determined using Mann-Whitney U-Tests by comparing the distributions of each word from 2024 to 2025 and applying the FDR-BH (Benjamini–Hochberg) correction to account for the 49,974 unique word distributions being compared.</a:t>
            </a:r>
          </a:p>
          <a:p>
            <a:br>
              <a:rPr lang="en-US" sz="2000" dirty="0"/>
            </a:br>
            <a:r>
              <a:rPr lang="en-US" sz="2000" dirty="0"/>
              <a:t>From January 21 to March 21 of 2024 to 2025, 13 words decreased significantly in their TF-IDF scores. These words are more narrowly targeted to DEI topics. This indicates that at the beginning of the year, the administration was most focused on rejecting grant proposals to research that involved DEI aspects. </a:t>
            </a:r>
          </a:p>
          <a:p>
            <a:br>
              <a:rPr lang="en-US" dirty="0"/>
            </a:br>
            <a:endParaRPr lang="en-US" dirty="0"/>
          </a:p>
        </p:txBody>
      </p:sp>
      <p:sp>
        <p:nvSpPr>
          <p:cNvPr id="1058" name="TextBox 1057">
            <a:extLst>
              <a:ext uri="{FF2B5EF4-FFF2-40B4-BE49-F238E27FC236}">
                <a16:creationId xmlns:a16="http://schemas.microsoft.com/office/drawing/2014/main" id="{9B440685-0622-8756-42AF-45869A69F11D}"/>
              </a:ext>
            </a:extLst>
          </p:cNvPr>
          <p:cNvSpPr txBox="1"/>
          <p:nvPr/>
        </p:nvSpPr>
        <p:spPr>
          <a:xfrm>
            <a:off x="11410457" y="13645149"/>
            <a:ext cx="10397958" cy="7786747"/>
          </a:xfrm>
          <a:prstGeom prst="rect">
            <a:avLst/>
          </a:prstGeom>
          <a:noFill/>
        </p:spPr>
        <p:txBody>
          <a:bodyPr wrap="square" rtlCol="0">
            <a:spAutoFit/>
          </a:bodyPr>
          <a:lstStyle/>
          <a:p>
            <a:r>
              <a:rPr lang="en-US" sz="2000" dirty="0"/>
              <a:t>To measure the lexical shifts of all abstracts between years, I use the cosine distances as measures of how much the language across all abstracts changes from the first two to six months of one year to that period of the next consecutive year. To compare year-by-year, I take the average of each words TF-IDF score for each year and put all of those scores into a vector. Then, I calculate the cosine distances between each consecutive year pair. Larger cosine distance between the vectors of consecutive year pairs represents greater shifts in words and topics, and therefore the kinds of research being done.</a:t>
            </a:r>
          </a:p>
          <a:p>
            <a:br>
              <a:rPr lang="en-US" sz="2000" dirty="0"/>
            </a:br>
            <a:r>
              <a:rPr lang="en-US" sz="2000" dirty="0"/>
              <a:t>First two months: When examining the cosine distances from January 21 to March 21 of each year from 2016 to 2025, there are large spikes in cosine distances from 2019 to 2020 and from 2024 to 2025. These spikes can be attributed to research related to the global pandemic in the 2019-2020 difference, and to the change in research priorities with the onset of the Trump administration in the 2024-2025 differences.</a:t>
            </a:r>
          </a:p>
          <a:p>
            <a:br>
              <a:rPr lang="en-US" sz="2000" dirty="0"/>
            </a:br>
            <a:r>
              <a:rPr lang="en-US" sz="2000" dirty="0"/>
              <a:t>Six months: However, when visualizing the cosine distances from January 21 to June 30 for the past ten years, the 2024 to 2025 cosine distance is, relatively, not as large, especially when being compared to the massive changes in the 2019-2020 and 2020-2021 distances. From this, two inferences can be gleaned. The first is that the changes in research priorities, as well as the impacts on the NSF, from the COVID-19 pandemic are significantly greater than that of the changes in NSF research priorities driven by the Trump administration. It can be inferred that the actions by the administration to diminish research priorities like environmental justice, DEI, and education were fast and front-loaded, and have somewhat stabilized from the sweeping changes in the first two months.</a:t>
            </a:r>
          </a:p>
          <a:p>
            <a:br>
              <a:rPr lang="en-US" sz="2000" dirty="0"/>
            </a:br>
            <a:endParaRPr lang="en-US" sz="2000" dirty="0"/>
          </a:p>
        </p:txBody>
      </p:sp>
    </p:spTree>
    <p:extLst>
      <p:ext uri="{BB962C8B-B14F-4D97-AF65-F5344CB8AC3E}">
        <p14:creationId xmlns:p14="http://schemas.microsoft.com/office/powerpoint/2010/main" val="417088831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3377</TotalTime>
  <Words>615</Words>
  <Application>Microsoft Macintosh PowerPoint</Application>
  <PresentationFormat>Custom</PresentationFormat>
  <Paragraphs>19</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Georgia</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Patrick Seely</dc:creator>
  <cp:lastModifiedBy>Ryan Patrick Seely</cp:lastModifiedBy>
  <cp:revision>4</cp:revision>
  <dcterms:created xsi:type="dcterms:W3CDTF">2025-08-03T19:39:39Z</dcterms:created>
  <dcterms:modified xsi:type="dcterms:W3CDTF">2025-08-06T03:56:47Z</dcterms:modified>
</cp:coreProperties>
</file>