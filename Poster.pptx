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8206E"/>
    <a:srgbClr val="F2CFEE"/>
    <a:srgbClr val="C6C5F1"/>
    <a:srgbClr val="B7BBF1"/>
    <a:srgbClr val="3892CC"/>
    <a:srgbClr val="3186BD"/>
    <a:srgbClr val="DCEAF7"/>
    <a:srgbClr val="FFFFFF"/>
    <a:srgbClr val="A6CAEC"/>
    <a:srgbClr val="30A1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60"/>
    <p:restoredTop sz="94690"/>
  </p:normalViewPr>
  <p:slideViewPr>
    <p:cSldViewPr snapToGrid="0">
      <p:cViewPr>
        <p:scale>
          <a:sx n="30" d="100"/>
          <a:sy n="30" d="100"/>
        </p:scale>
        <p:origin x="65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945202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26494774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40097530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E6644D-90AF-0F47-AA00-BC9A127DC21D}" type="datetimeFigureOut">
              <a:rPr lang="en-US" smtClean="0"/>
              <a:t>8/3/25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16248584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E6644D-90AF-0F47-AA00-BC9A127DC21D}" type="datetimeFigureOut">
              <a:rPr lang="en-US" smtClean="0"/>
              <a:t>8/3/25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30169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E6644D-90AF-0F47-AA00-BC9A127DC21D}" type="datetimeFigureOut">
              <a:rPr lang="en-US" smtClean="0"/>
              <a:t>8/3/25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31510927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E6644D-90AF-0F47-AA00-BC9A127DC21D}" type="datetimeFigureOut">
              <a:rPr lang="en-US" smtClean="0"/>
              <a:t>8/3/25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169472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84E6644D-90AF-0F47-AA00-BC9A127DC21D}" type="datetimeFigureOut">
              <a:rPr lang="en-US" smtClean="0"/>
              <a:t>8/3/25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39264481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84E6644D-90AF-0F47-AA00-BC9A127DC21D}" type="datetimeFigureOut">
              <a:rPr lang="en-US" smtClean="0"/>
              <a:t>8/3/25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2118977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28302504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E6644D-90AF-0F47-AA00-BC9A127DC21D}" type="datetimeFigureOut">
              <a:rPr lang="en-US" smtClean="0"/>
              <a:t>8/3/25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E92580-941F-C34A-A8BD-1023136D0FA8}" type="slidenum">
              <a:rPr lang="en-US" smtClean="0"/>
              <a:t>‹#›</a:t>
            </a:fld>
            <a:endParaRPr lang="en-US"/>
          </a:p>
        </p:txBody>
      </p:sp>
    </p:spTree>
    <p:extLst>
      <p:ext uri="{BB962C8B-B14F-4D97-AF65-F5344CB8AC3E}">
        <p14:creationId xmlns:p14="http://schemas.microsoft.com/office/powerpoint/2010/main" val="4242328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84E6644D-90AF-0F47-AA00-BC9A127DC21D}" type="datetimeFigureOut">
              <a:rPr lang="en-US" smtClean="0"/>
              <a:t>8/3/25</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1FE92580-941F-C34A-A8BD-1023136D0FA8}" type="slidenum">
              <a:rPr lang="en-US" smtClean="0"/>
              <a:t>‹#›</a:t>
            </a:fld>
            <a:endParaRPr lang="en-US"/>
          </a:p>
        </p:txBody>
      </p:sp>
    </p:spTree>
    <p:extLst>
      <p:ext uri="{BB962C8B-B14F-4D97-AF65-F5344CB8AC3E}">
        <p14:creationId xmlns:p14="http://schemas.microsoft.com/office/powerpoint/2010/main" val="187221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alpha val="49020"/>
          </a:schemeClr>
        </a:solidFill>
        <a:effectLst/>
      </p:bgPr>
    </p:bg>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5EEBE7A6-604B-E8BC-F661-71BF19DAECB8}"/>
              </a:ext>
            </a:extLst>
          </p:cNvPr>
          <p:cNvSpPr/>
          <p:nvPr/>
        </p:nvSpPr>
        <p:spPr>
          <a:xfrm>
            <a:off x="0" y="307678"/>
            <a:ext cx="43891200" cy="4319224"/>
          </a:xfrm>
          <a:prstGeom prst="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119BC6D5-D3A4-5F87-145A-2F3EE142A400}"/>
              </a:ext>
            </a:extLst>
          </p:cNvPr>
          <p:cNvSpPr txBox="1">
            <a:spLocks/>
          </p:cNvSpPr>
          <p:nvPr/>
        </p:nvSpPr>
        <p:spPr>
          <a:xfrm>
            <a:off x="7621325" y="496156"/>
            <a:ext cx="29659490" cy="4049463"/>
          </a:xfrm>
          <a:prstGeom prst="rect">
            <a:avLst/>
          </a:prstGeom>
          <a:noFill/>
          <a:ln>
            <a:noFill/>
          </a:ln>
        </p:spPr>
        <p:txBody>
          <a:bodyPr vert="horz" lIns="91440" tIns="45720" rIns="91440" bIns="45720" rtlCol="0" anchor="ctr" anchorCtr="0">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r>
              <a:rPr lang="en-US" sz="7500" b="1" dirty="0">
                <a:solidFill>
                  <a:schemeClr val="bg1"/>
                </a:solidFill>
                <a:latin typeface="Georgia" panose="02040502050405020303" pitchFamily="18" charset="0"/>
              </a:rPr>
              <a:t>Reading Between the Abstracts: A Textual Analysis of the Political Impacts on NSF-Funded Research</a:t>
            </a:r>
          </a:p>
          <a:p>
            <a:r>
              <a:rPr lang="en-US" sz="5000" dirty="0">
                <a:solidFill>
                  <a:schemeClr val="bg1"/>
                </a:solidFill>
                <a:latin typeface="Georgia" panose="02040502050405020303" pitchFamily="18" charset="0"/>
              </a:rPr>
              <a:t>Ryan Seely, advised by Dr. Jeffrey Stanton</a:t>
            </a:r>
          </a:p>
          <a:p>
            <a:r>
              <a:rPr lang="en-US" sz="5000" dirty="0">
                <a:solidFill>
                  <a:schemeClr val="bg1"/>
                </a:solidFill>
                <a:latin typeface="Georgia" panose="02040502050405020303" pitchFamily="18" charset="0"/>
              </a:rPr>
              <a:t>School of Information Studies REU Program 2025 </a:t>
            </a:r>
          </a:p>
        </p:txBody>
      </p:sp>
      <p:sp>
        <p:nvSpPr>
          <p:cNvPr id="8" name="Title 1">
            <a:extLst>
              <a:ext uri="{FF2B5EF4-FFF2-40B4-BE49-F238E27FC236}">
                <a16:creationId xmlns:a16="http://schemas.microsoft.com/office/drawing/2014/main" id="{0CFCE73F-5C5E-7485-5A7E-E44467D7F2F0}"/>
              </a:ext>
            </a:extLst>
          </p:cNvPr>
          <p:cNvSpPr txBox="1">
            <a:spLocks/>
          </p:cNvSpPr>
          <p:nvPr/>
        </p:nvSpPr>
        <p:spPr>
          <a:xfrm>
            <a:off x="11273272" y="5136873"/>
            <a:ext cx="20578328" cy="26749959"/>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5000" dirty="0">
              <a:latin typeface="Georgia" panose="02040502050405020303" pitchFamily="18" charset="0"/>
            </a:endParaRPr>
          </a:p>
          <a:p>
            <a:pPr algn="l"/>
            <a:endParaRPr lang="en-US" sz="5000" dirty="0">
              <a:latin typeface="Georgia" panose="02040502050405020303" pitchFamily="18" charset="0"/>
            </a:endParaRPr>
          </a:p>
        </p:txBody>
      </p:sp>
      <p:sp>
        <p:nvSpPr>
          <p:cNvPr id="24" name="Title 1">
            <a:extLst>
              <a:ext uri="{FF2B5EF4-FFF2-40B4-BE49-F238E27FC236}">
                <a16:creationId xmlns:a16="http://schemas.microsoft.com/office/drawing/2014/main" id="{1EF2658F-C94B-3796-9CEF-D8E17A071690}"/>
              </a:ext>
            </a:extLst>
          </p:cNvPr>
          <p:cNvSpPr txBox="1">
            <a:spLocks/>
          </p:cNvSpPr>
          <p:nvPr/>
        </p:nvSpPr>
        <p:spPr>
          <a:xfrm>
            <a:off x="32413329" y="27819461"/>
            <a:ext cx="11004904" cy="4067370"/>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5000" b="1" dirty="0">
              <a:latin typeface="Georgia" panose="02040502050405020303" pitchFamily="18" charset="0"/>
            </a:endParaRPr>
          </a:p>
        </p:txBody>
      </p:sp>
      <p:sp>
        <p:nvSpPr>
          <p:cNvPr id="36" name="Title 1">
            <a:extLst>
              <a:ext uri="{FF2B5EF4-FFF2-40B4-BE49-F238E27FC236}">
                <a16:creationId xmlns:a16="http://schemas.microsoft.com/office/drawing/2014/main" id="{EF2300AB-9B2D-CA75-2E05-3FA08DC3E478}"/>
              </a:ext>
            </a:extLst>
          </p:cNvPr>
          <p:cNvSpPr txBox="1">
            <a:spLocks/>
          </p:cNvSpPr>
          <p:nvPr/>
        </p:nvSpPr>
        <p:spPr>
          <a:xfrm>
            <a:off x="604787" y="5049327"/>
            <a:ext cx="10106756" cy="13462525"/>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3350" dirty="0">
              <a:latin typeface="Georgia" panose="02040502050405020303" pitchFamily="18" charset="0"/>
            </a:endParaRPr>
          </a:p>
          <a:p>
            <a:pPr algn="l"/>
            <a:endParaRPr lang="en-US" sz="5000" dirty="0">
              <a:latin typeface="Georgia" panose="02040502050405020303" pitchFamily="18" charset="0"/>
            </a:endParaRPr>
          </a:p>
          <a:p>
            <a:pPr algn="l"/>
            <a:endParaRPr lang="en-US" sz="5000" dirty="0">
              <a:latin typeface="Georgia" panose="02040502050405020303" pitchFamily="18" charset="0"/>
            </a:endParaRPr>
          </a:p>
          <a:p>
            <a:pPr algn="l"/>
            <a:r>
              <a:rPr lang="en-US" sz="5000" b="1" dirty="0">
                <a:latin typeface="Georgia" panose="02040502050405020303" pitchFamily="18" charset="0"/>
              </a:rPr>
              <a:t> </a:t>
            </a:r>
          </a:p>
          <a:p>
            <a:pPr algn="l"/>
            <a:endParaRPr lang="en-US" sz="5000" b="1" dirty="0">
              <a:latin typeface="Georgia" panose="02040502050405020303" pitchFamily="18" charset="0"/>
            </a:endParaRPr>
          </a:p>
          <a:p>
            <a:pPr algn="l"/>
            <a:endParaRPr lang="en-US" sz="5000" b="1" dirty="0">
              <a:latin typeface="Georgia" panose="02040502050405020303" pitchFamily="18" charset="0"/>
            </a:endParaRPr>
          </a:p>
          <a:p>
            <a:pPr algn="l"/>
            <a:endParaRPr lang="en-US" sz="5000" b="1" dirty="0">
              <a:latin typeface="Georgia" panose="02040502050405020303" pitchFamily="18" charset="0"/>
            </a:endParaRPr>
          </a:p>
          <a:p>
            <a:pPr algn="l"/>
            <a:endParaRPr lang="en-US" sz="5000" b="1" dirty="0">
              <a:latin typeface="Georgia" panose="02040502050405020303" pitchFamily="18" charset="0"/>
            </a:endParaRPr>
          </a:p>
          <a:p>
            <a:pPr algn="l"/>
            <a:endParaRPr lang="en-US" sz="5000" b="1" dirty="0">
              <a:latin typeface="Georgia" panose="02040502050405020303" pitchFamily="18" charset="0"/>
            </a:endParaRPr>
          </a:p>
          <a:p>
            <a:pPr algn="l"/>
            <a:endParaRPr lang="en-US" sz="5000" b="1" dirty="0">
              <a:latin typeface="Georgia" panose="02040502050405020303" pitchFamily="18" charset="0"/>
            </a:endParaRPr>
          </a:p>
          <a:p>
            <a:pPr algn="l"/>
            <a:endParaRPr lang="en-US" sz="5000" b="1" dirty="0">
              <a:latin typeface="Georgia" panose="02040502050405020303" pitchFamily="18" charset="0"/>
            </a:endParaRPr>
          </a:p>
          <a:p>
            <a:pPr algn="l"/>
            <a:endParaRPr lang="en-US" sz="5000" b="1" dirty="0">
              <a:latin typeface="Georgia" panose="02040502050405020303" pitchFamily="18" charset="0"/>
            </a:endParaRPr>
          </a:p>
        </p:txBody>
      </p:sp>
      <p:sp>
        <p:nvSpPr>
          <p:cNvPr id="37" name="Title 1">
            <a:extLst>
              <a:ext uri="{FF2B5EF4-FFF2-40B4-BE49-F238E27FC236}">
                <a16:creationId xmlns:a16="http://schemas.microsoft.com/office/drawing/2014/main" id="{9959A9DD-0A47-91A3-0295-D974A142237F}"/>
              </a:ext>
            </a:extLst>
          </p:cNvPr>
          <p:cNvSpPr txBox="1">
            <a:spLocks/>
          </p:cNvSpPr>
          <p:nvPr/>
        </p:nvSpPr>
        <p:spPr>
          <a:xfrm>
            <a:off x="32395884" y="5136874"/>
            <a:ext cx="11079535" cy="22682588"/>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5000" b="1" dirty="0">
              <a:latin typeface="Georgia" panose="02040502050405020303" pitchFamily="18" charset="0"/>
            </a:endParaRPr>
          </a:p>
        </p:txBody>
      </p:sp>
      <p:sp>
        <p:nvSpPr>
          <p:cNvPr id="40" name="Title 1">
            <a:extLst>
              <a:ext uri="{FF2B5EF4-FFF2-40B4-BE49-F238E27FC236}">
                <a16:creationId xmlns:a16="http://schemas.microsoft.com/office/drawing/2014/main" id="{8B0DFCCC-B8D9-2FF6-C8D1-EBEEB0BF1582}"/>
              </a:ext>
            </a:extLst>
          </p:cNvPr>
          <p:cNvSpPr txBox="1">
            <a:spLocks/>
          </p:cNvSpPr>
          <p:nvPr/>
        </p:nvSpPr>
        <p:spPr>
          <a:xfrm>
            <a:off x="-1" y="32204550"/>
            <a:ext cx="43891199" cy="713848"/>
          </a:xfrm>
          <a:prstGeom prst="rect">
            <a:avLst/>
          </a:prstGeom>
          <a:solidFill>
            <a:schemeClr val="accent5">
              <a:lumMod val="75000"/>
            </a:schemeClr>
          </a:solidFill>
        </p:spPr>
        <p:txBody>
          <a:bodyPr vert="horz" lIns="91440" tIns="45720" rIns="91440" bIns="45720" rtlCol="0" anchor="ctr" anchorCtr="0">
            <a:normAutofit fontScale="70000" lnSpcReduction="20000"/>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endParaRPr lang="en-US" sz="8000" dirty="0">
              <a:solidFill>
                <a:schemeClr val="bg1"/>
              </a:solidFill>
              <a:latin typeface="Georgia" panose="02040502050405020303" pitchFamily="18" charset="0"/>
            </a:endParaRPr>
          </a:p>
        </p:txBody>
      </p:sp>
      <p:sp>
        <p:nvSpPr>
          <p:cNvPr id="41" name="Rectangle 40">
            <a:extLst>
              <a:ext uri="{FF2B5EF4-FFF2-40B4-BE49-F238E27FC236}">
                <a16:creationId xmlns:a16="http://schemas.microsoft.com/office/drawing/2014/main" id="{49F0FAEF-C58F-00E6-33CC-7EB81267CCC4}"/>
              </a:ext>
            </a:extLst>
          </p:cNvPr>
          <p:cNvSpPr/>
          <p:nvPr/>
        </p:nvSpPr>
        <p:spPr>
          <a:xfrm>
            <a:off x="0" y="4456331"/>
            <a:ext cx="43891200" cy="341142"/>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8D3CAF6D-7BB1-296B-762E-63EFA201DB14}"/>
              </a:ext>
            </a:extLst>
          </p:cNvPr>
          <p:cNvSpPr/>
          <p:nvPr/>
        </p:nvSpPr>
        <p:spPr>
          <a:xfrm>
            <a:off x="0" y="-33464"/>
            <a:ext cx="43891200" cy="341142"/>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FB960F36-3971-1504-A394-84407FF91DDD}"/>
              </a:ext>
            </a:extLst>
          </p:cNvPr>
          <p:cNvSpPr/>
          <p:nvPr/>
        </p:nvSpPr>
        <p:spPr>
          <a:xfrm>
            <a:off x="-2" y="32138686"/>
            <a:ext cx="43891200" cy="170571"/>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a:extLst>
              <a:ext uri="{FF2B5EF4-FFF2-40B4-BE49-F238E27FC236}">
                <a16:creationId xmlns:a16="http://schemas.microsoft.com/office/drawing/2014/main" id="{4F454718-2952-6D0B-75AC-D351578FB2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5780" y="648820"/>
            <a:ext cx="6350000" cy="3568700"/>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46" descr="A blue globe with white text&#10;&#10;AI-generated content may be incorrect.">
            <a:extLst>
              <a:ext uri="{FF2B5EF4-FFF2-40B4-BE49-F238E27FC236}">
                <a16:creationId xmlns:a16="http://schemas.microsoft.com/office/drawing/2014/main" id="{D749128D-2143-1060-403A-94C5400D0B8F}"/>
              </a:ext>
            </a:extLst>
          </p:cNvPr>
          <p:cNvPicPr>
            <a:picLocks noChangeAspect="1"/>
          </p:cNvPicPr>
          <p:nvPr/>
        </p:nvPicPr>
        <p:blipFill>
          <a:blip r:embed="rId3"/>
          <a:stretch>
            <a:fillRect/>
          </a:stretch>
        </p:blipFill>
        <p:spPr>
          <a:xfrm>
            <a:off x="37045079" y="364679"/>
            <a:ext cx="6226312" cy="4034650"/>
          </a:xfrm>
          <a:prstGeom prst="rect">
            <a:avLst/>
          </a:prstGeom>
        </p:spPr>
      </p:pic>
      <p:sp>
        <p:nvSpPr>
          <p:cNvPr id="53" name="Title 1">
            <a:extLst>
              <a:ext uri="{FF2B5EF4-FFF2-40B4-BE49-F238E27FC236}">
                <a16:creationId xmlns:a16="http://schemas.microsoft.com/office/drawing/2014/main" id="{B8F21E36-6685-5425-DA82-8E02EDA9F5F9}"/>
              </a:ext>
            </a:extLst>
          </p:cNvPr>
          <p:cNvSpPr txBox="1">
            <a:spLocks/>
          </p:cNvSpPr>
          <p:nvPr/>
        </p:nvSpPr>
        <p:spPr>
          <a:xfrm>
            <a:off x="619808" y="18453494"/>
            <a:ext cx="10091735" cy="13433337"/>
          </a:xfrm>
          <a:prstGeom prst="rect">
            <a:avLst/>
          </a:prstGeom>
          <a:solidFill>
            <a:srgbClr val="F2CFEE">
              <a:alpha val="25098"/>
            </a:srgbClr>
          </a:solidFill>
          <a:ln>
            <a:solidFill>
              <a:schemeClr val="bg1"/>
            </a:solidFill>
          </a:ln>
        </p:spPr>
        <p:txBody>
          <a:bodyPr vert="horz" lIns="91440" tIns="45720" rIns="91440" bIns="45720" rtlCol="0" anchor="t">
            <a:normAutofit/>
          </a:bodyPr>
          <a:lstStyle>
            <a:lvl1pPr algn="ctr" defTabSz="4389120" rtl="0" eaLnBrk="1" latinLnBrk="0" hangingPunct="1">
              <a:lnSpc>
                <a:spcPct val="90000"/>
              </a:lnSpc>
              <a:spcBef>
                <a:spcPct val="0"/>
              </a:spcBef>
              <a:buNone/>
              <a:defRPr sz="28800" kern="1200">
                <a:solidFill>
                  <a:schemeClr val="tx1"/>
                </a:solidFill>
                <a:latin typeface="+mj-lt"/>
                <a:ea typeface="+mj-ea"/>
                <a:cs typeface="+mj-cs"/>
              </a:defRPr>
            </a:lvl1pPr>
          </a:lstStyle>
          <a:p>
            <a:pPr algn="l"/>
            <a:endParaRPr lang="en-US" sz="3350" dirty="0">
              <a:latin typeface="Georgia" panose="02040502050405020303" pitchFamily="18" charset="0"/>
            </a:endParaRPr>
          </a:p>
          <a:p>
            <a:pPr algn="l"/>
            <a:endParaRPr lang="en-US" sz="5000" dirty="0">
              <a:latin typeface="Georgia" panose="02040502050405020303" pitchFamily="18" charset="0"/>
            </a:endParaRPr>
          </a:p>
        </p:txBody>
      </p:sp>
      <p:sp>
        <p:nvSpPr>
          <p:cNvPr id="54" name="TextBox 53">
            <a:extLst>
              <a:ext uri="{FF2B5EF4-FFF2-40B4-BE49-F238E27FC236}">
                <a16:creationId xmlns:a16="http://schemas.microsoft.com/office/drawing/2014/main" id="{1677F278-86CF-8EBD-90AC-499920E2788D}"/>
              </a:ext>
            </a:extLst>
          </p:cNvPr>
          <p:cNvSpPr txBox="1"/>
          <p:nvPr/>
        </p:nvSpPr>
        <p:spPr>
          <a:xfrm>
            <a:off x="604787" y="5136873"/>
            <a:ext cx="10106756"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Introduction</a:t>
            </a:r>
          </a:p>
          <a:p>
            <a:pPr algn="ctr"/>
            <a:endParaRPr lang="en-US" dirty="0"/>
          </a:p>
        </p:txBody>
      </p:sp>
      <p:sp>
        <p:nvSpPr>
          <p:cNvPr id="55" name="TextBox 54">
            <a:extLst>
              <a:ext uri="{FF2B5EF4-FFF2-40B4-BE49-F238E27FC236}">
                <a16:creationId xmlns:a16="http://schemas.microsoft.com/office/drawing/2014/main" id="{59D41AD2-4876-2230-013D-B2BCC00ED528}"/>
              </a:ext>
            </a:extLst>
          </p:cNvPr>
          <p:cNvSpPr txBox="1"/>
          <p:nvPr/>
        </p:nvSpPr>
        <p:spPr>
          <a:xfrm>
            <a:off x="11330457" y="5136873"/>
            <a:ext cx="20578328"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Significant Word Changes</a:t>
            </a:r>
          </a:p>
          <a:p>
            <a:pPr algn="ctr"/>
            <a:endParaRPr lang="en-US" dirty="0"/>
          </a:p>
        </p:txBody>
      </p:sp>
      <p:sp>
        <p:nvSpPr>
          <p:cNvPr id="56" name="TextBox 55">
            <a:extLst>
              <a:ext uri="{FF2B5EF4-FFF2-40B4-BE49-F238E27FC236}">
                <a16:creationId xmlns:a16="http://schemas.microsoft.com/office/drawing/2014/main" id="{85F5CD0A-45D3-10E6-5A20-6216A224D68A}"/>
              </a:ext>
            </a:extLst>
          </p:cNvPr>
          <p:cNvSpPr txBox="1"/>
          <p:nvPr/>
        </p:nvSpPr>
        <p:spPr>
          <a:xfrm>
            <a:off x="619807" y="17158735"/>
            <a:ext cx="10106756"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Funding Changes</a:t>
            </a:r>
          </a:p>
          <a:p>
            <a:pPr algn="ctr"/>
            <a:endParaRPr lang="en-US" dirty="0"/>
          </a:p>
        </p:txBody>
      </p:sp>
      <p:sp>
        <p:nvSpPr>
          <p:cNvPr id="57" name="TextBox 56">
            <a:extLst>
              <a:ext uri="{FF2B5EF4-FFF2-40B4-BE49-F238E27FC236}">
                <a16:creationId xmlns:a16="http://schemas.microsoft.com/office/drawing/2014/main" id="{4736EC95-F04C-8F11-E29C-A3DF5D10C0FE}"/>
              </a:ext>
            </a:extLst>
          </p:cNvPr>
          <p:cNvSpPr txBox="1"/>
          <p:nvPr/>
        </p:nvSpPr>
        <p:spPr>
          <a:xfrm>
            <a:off x="11255827" y="12303057"/>
            <a:ext cx="20578328"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Lexical Change</a:t>
            </a:r>
          </a:p>
          <a:p>
            <a:pPr algn="ctr"/>
            <a:endParaRPr lang="en-US" dirty="0"/>
          </a:p>
        </p:txBody>
      </p:sp>
      <p:sp>
        <p:nvSpPr>
          <p:cNvPr id="58" name="TextBox 57">
            <a:extLst>
              <a:ext uri="{FF2B5EF4-FFF2-40B4-BE49-F238E27FC236}">
                <a16:creationId xmlns:a16="http://schemas.microsoft.com/office/drawing/2014/main" id="{CA267B55-56B6-A228-CB74-DF5005DEF957}"/>
              </a:ext>
            </a:extLst>
          </p:cNvPr>
          <p:cNvSpPr txBox="1"/>
          <p:nvPr/>
        </p:nvSpPr>
        <p:spPr>
          <a:xfrm>
            <a:off x="11290717" y="21082098"/>
            <a:ext cx="20578328"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Presence of “Banned Words”</a:t>
            </a:r>
          </a:p>
          <a:p>
            <a:pPr algn="ctr"/>
            <a:endParaRPr lang="en-US" dirty="0"/>
          </a:p>
        </p:txBody>
      </p:sp>
      <p:sp>
        <p:nvSpPr>
          <p:cNvPr id="59" name="TextBox 58">
            <a:extLst>
              <a:ext uri="{FF2B5EF4-FFF2-40B4-BE49-F238E27FC236}">
                <a16:creationId xmlns:a16="http://schemas.microsoft.com/office/drawing/2014/main" id="{F3C4B400-4D4A-8F98-8DFC-9EA6FA256DA5}"/>
              </a:ext>
            </a:extLst>
          </p:cNvPr>
          <p:cNvSpPr txBox="1"/>
          <p:nvPr/>
        </p:nvSpPr>
        <p:spPr>
          <a:xfrm>
            <a:off x="32404606" y="5136873"/>
            <a:ext cx="11062090"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Discussion</a:t>
            </a:r>
          </a:p>
          <a:p>
            <a:pPr algn="ctr"/>
            <a:endParaRPr lang="en-US" dirty="0"/>
          </a:p>
        </p:txBody>
      </p:sp>
      <p:sp>
        <p:nvSpPr>
          <p:cNvPr id="61" name="TextBox 60">
            <a:extLst>
              <a:ext uri="{FF2B5EF4-FFF2-40B4-BE49-F238E27FC236}">
                <a16:creationId xmlns:a16="http://schemas.microsoft.com/office/drawing/2014/main" id="{E2C702A2-2242-94DE-30D3-B54515150E68}"/>
              </a:ext>
            </a:extLst>
          </p:cNvPr>
          <p:cNvSpPr txBox="1"/>
          <p:nvPr/>
        </p:nvSpPr>
        <p:spPr>
          <a:xfrm>
            <a:off x="32395883" y="27819461"/>
            <a:ext cx="11022349" cy="1138773"/>
          </a:xfrm>
          <a:prstGeom prst="rect">
            <a:avLst/>
          </a:prstGeom>
          <a:solidFill>
            <a:srgbClr val="78206E"/>
          </a:solidFill>
        </p:spPr>
        <p:txBody>
          <a:bodyPr wrap="square" rtlCol="0" anchor="ctr">
            <a:spAutoFit/>
          </a:bodyPr>
          <a:lstStyle/>
          <a:p>
            <a:pPr algn="ctr"/>
            <a:r>
              <a:rPr lang="en-US" sz="5000" b="1" dirty="0">
                <a:solidFill>
                  <a:schemeClr val="bg1"/>
                </a:solidFill>
                <a:latin typeface="Georgia" panose="02040502050405020303" pitchFamily="18" charset="0"/>
              </a:rPr>
              <a:t>References</a:t>
            </a:r>
          </a:p>
          <a:p>
            <a:pPr algn="ctr"/>
            <a:endParaRPr lang="en-US" dirty="0"/>
          </a:p>
        </p:txBody>
      </p:sp>
      <p:pic>
        <p:nvPicPr>
          <p:cNvPr id="63" name="Picture 62" descr="A graph with numbers and a number of years&#10;&#10;AI-generated content may be incorrect.">
            <a:extLst>
              <a:ext uri="{FF2B5EF4-FFF2-40B4-BE49-F238E27FC236}">
                <a16:creationId xmlns:a16="http://schemas.microsoft.com/office/drawing/2014/main" id="{3AC22657-F5F8-5E12-445D-BA382A652377}"/>
              </a:ext>
            </a:extLst>
          </p:cNvPr>
          <p:cNvPicPr>
            <a:picLocks noChangeAspect="1"/>
          </p:cNvPicPr>
          <p:nvPr/>
        </p:nvPicPr>
        <p:blipFill>
          <a:blip r:embed="rId4"/>
          <a:stretch>
            <a:fillRect/>
          </a:stretch>
        </p:blipFill>
        <p:spPr>
          <a:xfrm>
            <a:off x="22315284" y="22372752"/>
            <a:ext cx="9321893" cy="3680106"/>
          </a:xfrm>
          <a:prstGeom prst="rect">
            <a:avLst/>
          </a:prstGeom>
        </p:spPr>
      </p:pic>
      <p:pic>
        <p:nvPicPr>
          <p:cNvPr id="1031" name="Picture 1030" descr="A graph with numbers and a number of words&#10;&#10;AI-generated content may be incorrect.">
            <a:extLst>
              <a:ext uri="{FF2B5EF4-FFF2-40B4-BE49-F238E27FC236}">
                <a16:creationId xmlns:a16="http://schemas.microsoft.com/office/drawing/2014/main" id="{B1F356C7-26DA-694B-FB3D-BC662E4AF001}"/>
              </a:ext>
            </a:extLst>
          </p:cNvPr>
          <p:cNvPicPr>
            <a:picLocks noChangeAspect="1"/>
          </p:cNvPicPr>
          <p:nvPr/>
        </p:nvPicPr>
        <p:blipFill>
          <a:blip r:embed="rId5"/>
          <a:stretch>
            <a:fillRect/>
          </a:stretch>
        </p:blipFill>
        <p:spPr>
          <a:xfrm>
            <a:off x="11333219" y="26052858"/>
            <a:ext cx="10810216" cy="5706321"/>
          </a:xfrm>
          <a:prstGeom prst="rect">
            <a:avLst/>
          </a:prstGeom>
        </p:spPr>
      </p:pic>
      <p:pic>
        <p:nvPicPr>
          <p:cNvPr id="1035" name="Picture 1034" descr="A graph with a line going up&#10;&#10;AI-generated content may be incorrect.">
            <a:extLst>
              <a:ext uri="{FF2B5EF4-FFF2-40B4-BE49-F238E27FC236}">
                <a16:creationId xmlns:a16="http://schemas.microsoft.com/office/drawing/2014/main" id="{C6CE2A35-27B9-DA8A-FF1B-77841DE8FEC8}"/>
              </a:ext>
            </a:extLst>
          </p:cNvPr>
          <p:cNvPicPr>
            <a:picLocks noChangeAspect="1"/>
          </p:cNvPicPr>
          <p:nvPr/>
        </p:nvPicPr>
        <p:blipFill>
          <a:blip r:embed="rId6"/>
          <a:stretch>
            <a:fillRect/>
          </a:stretch>
        </p:blipFill>
        <p:spPr>
          <a:xfrm>
            <a:off x="21945600" y="13507694"/>
            <a:ext cx="9691577" cy="3963390"/>
          </a:xfrm>
          <a:prstGeom prst="rect">
            <a:avLst/>
          </a:prstGeom>
        </p:spPr>
      </p:pic>
      <p:pic>
        <p:nvPicPr>
          <p:cNvPr id="1043" name="Picture 1042" descr="A graph of purple and pink bars&#10;&#10;AI-generated content may be incorrect.">
            <a:extLst>
              <a:ext uri="{FF2B5EF4-FFF2-40B4-BE49-F238E27FC236}">
                <a16:creationId xmlns:a16="http://schemas.microsoft.com/office/drawing/2014/main" id="{C5305AB1-BEC4-D42F-EFC6-325BE0D22772}"/>
              </a:ext>
            </a:extLst>
          </p:cNvPr>
          <p:cNvPicPr>
            <a:picLocks noChangeAspect="1"/>
          </p:cNvPicPr>
          <p:nvPr/>
        </p:nvPicPr>
        <p:blipFill>
          <a:blip r:embed="rId7"/>
          <a:stretch>
            <a:fillRect/>
          </a:stretch>
        </p:blipFill>
        <p:spPr>
          <a:xfrm>
            <a:off x="6126480" y="19201936"/>
            <a:ext cx="4461030" cy="5567543"/>
          </a:xfrm>
          <a:prstGeom prst="rect">
            <a:avLst/>
          </a:prstGeom>
        </p:spPr>
      </p:pic>
      <p:pic>
        <p:nvPicPr>
          <p:cNvPr id="1045" name="Picture 1044" descr="A graph of a bar chart&#10;&#10;AI-generated content may be incorrect.">
            <a:extLst>
              <a:ext uri="{FF2B5EF4-FFF2-40B4-BE49-F238E27FC236}">
                <a16:creationId xmlns:a16="http://schemas.microsoft.com/office/drawing/2014/main" id="{85A22B90-FA86-2EDC-38F9-591EE6186CD5}"/>
              </a:ext>
            </a:extLst>
          </p:cNvPr>
          <p:cNvPicPr>
            <a:picLocks noChangeAspect="1"/>
          </p:cNvPicPr>
          <p:nvPr/>
        </p:nvPicPr>
        <p:blipFill>
          <a:blip r:embed="rId8"/>
          <a:srcRect r="3546"/>
          <a:stretch>
            <a:fillRect/>
          </a:stretch>
        </p:blipFill>
        <p:spPr>
          <a:xfrm>
            <a:off x="6126480" y="25234371"/>
            <a:ext cx="4393167" cy="5593077"/>
          </a:xfrm>
          <a:prstGeom prst="rect">
            <a:avLst/>
          </a:prstGeom>
        </p:spPr>
      </p:pic>
      <p:pic>
        <p:nvPicPr>
          <p:cNvPr id="1051" name="Picture 1050" descr="A graph of a graph&#10;&#10;AI-generated content may be incorrect.">
            <a:extLst>
              <a:ext uri="{FF2B5EF4-FFF2-40B4-BE49-F238E27FC236}">
                <a16:creationId xmlns:a16="http://schemas.microsoft.com/office/drawing/2014/main" id="{A5C61D11-53C0-4DB3-4FD2-A2BFFDE7C4E5}"/>
              </a:ext>
            </a:extLst>
          </p:cNvPr>
          <p:cNvPicPr>
            <a:picLocks noChangeAspect="1"/>
          </p:cNvPicPr>
          <p:nvPr/>
        </p:nvPicPr>
        <p:blipFill>
          <a:blip r:embed="rId9"/>
          <a:stretch>
            <a:fillRect/>
          </a:stretch>
        </p:blipFill>
        <p:spPr>
          <a:xfrm>
            <a:off x="27460575" y="6727941"/>
            <a:ext cx="4139182" cy="5336054"/>
          </a:xfrm>
          <a:prstGeom prst="rect">
            <a:avLst/>
          </a:prstGeom>
        </p:spPr>
      </p:pic>
      <p:pic>
        <p:nvPicPr>
          <p:cNvPr id="1054" name="Picture 1053" descr="A graph of a number of different colored bars&#10;&#10;AI-generated content may be incorrect.">
            <a:extLst>
              <a:ext uri="{FF2B5EF4-FFF2-40B4-BE49-F238E27FC236}">
                <a16:creationId xmlns:a16="http://schemas.microsoft.com/office/drawing/2014/main" id="{5B66C5E3-953E-96E6-0DF1-7AF139AE4816}"/>
              </a:ext>
            </a:extLst>
          </p:cNvPr>
          <p:cNvPicPr>
            <a:picLocks noChangeAspect="1"/>
          </p:cNvPicPr>
          <p:nvPr/>
        </p:nvPicPr>
        <p:blipFill>
          <a:blip r:embed="rId10"/>
          <a:stretch>
            <a:fillRect/>
          </a:stretch>
        </p:blipFill>
        <p:spPr>
          <a:xfrm>
            <a:off x="21945600" y="6688563"/>
            <a:ext cx="5234110" cy="5376891"/>
          </a:xfrm>
          <a:prstGeom prst="rect">
            <a:avLst/>
          </a:prstGeom>
        </p:spPr>
      </p:pic>
      <p:pic>
        <p:nvPicPr>
          <p:cNvPr id="1056" name="Picture 1055" descr="A graph with a line and a line&#10;&#10;AI-generated content may be incorrect.">
            <a:extLst>
              <a:ext uri="{FF2B5EF4-FFF2-40B4-BE49-F238E27FC236}">
                <a16:creationId xmlns:a16="http://schemas.microsoft.com/office/drawing/2014/main" id="{01861FBF-4260-C945-6116-6C72C1AF258C}"/>
              </a:ext>
            </a:extLst>
          </p:cNvPr>
          <p:cNvPicPr>
            <a:picLocks noChangeAspect="1"/>
          </p:cNvPicPr>
          <p:nvPr/>
        </p:nvPicPr>
        <p:blipFill>
          <a:blip r:embed="rId11"/>
          <a:stretch>
            <a:fillRect/>
          </a:stretch>
        </p:blipFill>
        <p:spPr>
          <a:xfrm>
            <a:off x="21945600" y="17650060"/>
            <a:ext cx="9691577" cy="3180184"/>
          </a:xfrm>
          <a:prstGeom prst="rect">
            <a:avLst/>
          </a:prstGeom>
        </p:spPr>
      </p:pic>
      <p:sp>
        <p:nvSpPr>
          <p:cNvPr id="1057" name="TextBox 1056">
            <a:extLst>
              <a:ext uri="{FF2B5EF4-FFF2-40B4-BE49-F238E27FC236}">
                <a16:creationId xmlns:a16="http://schemas.microsoft.com/office/drawing/2014/main" id="{3B6C9F92-C275-B5B2-A4A4-FE28018FD344}"/>
              </a:ext>
            </a:extLst>
          </p:cNvPr>
          <p:cNvSpPr txBox="1"/>
          <p:nvPr/>
        </p:nvSpPr>
        <p:spPr>
          <a:xfrm>
            <a:off x="11333219" y="6727941"/>
            <a:ext cx="10397958" cy="5878532"/>
          </a:xfrm>
          <a:prstGeom prst="rect">
            <a:avLst/>
          </a:prstGeom>
          <a:noFill/>
        </p:spPr>
        <p:txBody>
          <a:bodyPr wrap="square" rtlCol="0">
            <a:spAutoFit/>
          </a:bodyPr>
          <a:lstStyle/>
          <a:p>
            <a:r>
              <a:rPr lang="en-US" sz="2000" dirty="0"/>
              <a:t>To track what words change significantly in their usage and importance between 2024 and 2025, I calculate TF-IDF values of all words in each document across both years. This method allows for comparison in how word importance changes from year to year, as well as for analysis on how much the content distributions of abstracts change from year to year.</a:t>
            </a:r>
          </a:p>
          <a:p>
            <a:br>
              <a:rPr lang="en-US" sz="2000" dirty="0"/>
            </a:br>
            <a:r>
              <a:rPr lang="en-US" sz="2000" dirty="0"/>
              <a:t>From the January 21 to June 30 of 2024 to 2025, there are 29 words that decrease significantly (adjusted p-value &lt; 0.05) in their TF-IDF scores, many of them having to do with education, DEI, and the environment, which are three key areas in which the Trump administration is restricting funding, for the NSF and across the federal government. The significance of these decreases was determined using Mann-Whitney U-Tests by comparing the distributions of each word from 2024 to 2025 and applying the FDR-BH (Benjamini–Hochberg) correction to account for the 49,974 unique word distributions being compared.</a:t>
            </a:r>
          </a:p>
          <a:p>
            <a:br>
              <a:rPr lang="en-US" sz="2000" dirty="0"/>
            </a:br>
            <a:r>
              <a:rPr lang="en-US" sz="2000" dirty="0"/>
              <a:t>From January 21 to March 21 of 2024 to 2025, 13 words decreased significantly in their TF-IDF scores. These words are more narrowly targeted to DEI topics. This indicates that at the beginning of the year, the administration was most focused on rejecting grant proposals to research that involved DEI aspects. </a:t>
            </a:r>
          </a:p>
          <a:p>
            <a:br>
              <a:rPr lang="en-US" dirty="0"/>
            </a:br>
            <a:endParaRPr lang="en-US" dirty="0"/>
          </a:p>
        </p:txBody>
      </p:sp>
      <p:sp>
        <p:nvSpPr>
          <p:cNvPr id="1058" name="TextBox 1057">
            <a:extLst>
              <a:ext uri="{FF2B5EF4-FFF2-40B4-BE49-F238E27FC236}">
                <a16:creationId xmlns:a16="http://schemas.microsoft.com/office/drawing/2014/main" id="{9B440685-0622-8756-42AF-45869A69F11D}"/>
              </a:ext>
            </a:extLst>
          </p:cNvPr>
          <p:cNvSpPr txBox="1"/>
          <p:nvPr/>
        </p:nvSpPr>
        <p:spPr>
          <a:xfrm>
            <a:off x="11410457" y="13645149"/>
            <a:ext cx="10397958" cy="7786747"/>
          </a:xfrm>
          <a:prstGeom prst="rect">
            <a:avLst/>
          </a:prstGeom>
          <a:noFill/>
        </p:spPr>
        <p:txBody>
          <a:bodyPr wrap="square" rtlCol="0">
            <a:spAutoFit/>
          </a:bodyPr>
          <a:lstStyle/>
          <a:p>
            <a:r>
              <a:rPr lang="en-US" sz="2000" b="1" dirty="0"/>
              <a:t>Measurement: </a:t>
            </a:r>
            <a:r>
              <a:rPr lang="en-US" sz="2000" dirty="0"/>
              <a:t>To measure the lexical shifts of all abstracts between years, I use the cosine distances as measures of how much the language across all abstracts changes from the first two to six months of one year to that period of the next consecutive year. To compare year-by-year, I take the average of each words TF-IDF score for each year and put all of those scores into a vector. Then, I calculate the cosine distances between each consecutive year pair. Larger cosine distance between the vectors of consecutive year pairs represents greater shifts in words and topics, and therefore the kinds of research being done.</a:t>
            </a:r>
          </a:p>
          <a:p>
            <a:br>
              <a:rPr lang="en-US" sz="2000" dirty="0"/>
            </a:br>
            <a:r>
              <a:rPr lang="en-US" sz="2000" b="1" dirty="0"/>
              <a:t>First two months: </a:t>
            </a:r>
            <a:r>
              <a:rPr lang="en-US" sz="2000" dirty="0"/>
              <a:t>When examining the cosine distances from January 21 to March 21 of each year from 2016 to 2025, there are large spikes in cosine distances from 2019 to 2020 and from 2024 to 2025. These spikes can be attributed to research related to the global pandemic in the 2019-2020 difference, and to the change in research priorities with the onset of the Trump administration in the 2024-2025 differences.</a:t>
            </a:r>
          </a:p>
          <a:p>
            <a:br>
              <a:rPr lang="en-US" sz="2000" dirty="0"/>
            </a:br>
            <a:r>
              <a:rPr lang="en-US" sz="2000" b="1" dirty="0"/>
              <a:t>Six months: </a:t>
            </a:r>
            <a:r>
              <a:rPr lang="en-US" sz="2000" dirty="0"/>
              <a:t>However, when visualizing the cosine distances from January 21 to June 30 for the past ten years, the 2024 to 2025 cosine distance is, relatively, not as large, especially when being compared to the massive changes in the 2019-2020 and 2020-2021 distances. From this, two inferences can be gleaned. The first is that the changes in research priorities, as well as the impacts on the NSF, from the COVID-19 pandemic are significantly greater than that of the changes in NSF research priorities driven by the Trump administration. It can be inferred that the actions by the administration to diminish research priorities like environmental justice, DEI, and education were fast and front-loaded, and have somewhat stabilized from the sweeping changes in the first two months.</a:t>
            </a:r>
          </a:p>
          <a:p>
            <a:br>
              <a:rPr lang="en-US" sz="2000" dirty="0"/>
            </a:br>
            <a:endParaRPr lang="en-US" sz="2000" dirty="0"/>
          </a:p>
        </p:txBody>
      </p:sp>
      <p:sp>
        <p:nvSpPr>
          <p:cNvPr id="1059" name="TextBox 1058">
            <a:extLst>
              <a:ext uri="{FF2B5EF4-FFF2-40B4-BE49-F238E27FC236}">
                <a16:creationId xmlns:a16="http://schemas.microsoft.com/office/drawing/2014/main" id="{55F6C288-501F-6F2B-1D7A-8F464AEE4A75}"/>
              </a:ext>
            </a:extLst>
          </p:cNvPr>
          <p:cNvSpPr txBox="1"/>
          <p:nvPr/>
        </p:nvSpPr>
        <p:spPr>
          <a:xfrm>
            <a:off x="731668" y="18385054"/>
            <a:ext cx="5337626" cy="16896933"/>
          </a:xfrm>
          <a:prstGeom prst="rect">
            <a:avLst/>
          </a:prstGeom>
          <a:noFill/>
        </p:spPr>
        <p:txBody>
          <a:bodyPr wrap="square" rtlCol="0">
            <a:spAutoFit/>
          </a:bodyPr>
          <a:lstStyle/>
          <a:p>
            <a:r>
              <a:rPr lang="en-US" sz="3000" b="1" dirty="0"/>
              <a:t>Significant funding changes</a:t>
            </a:r>
          </a:p>
          <a:p>
            <a:pPr marL="285750" indent="-285750">
              <a:buFont typeface="Arial" panose="020B0604020202020204" pitchFamily="34" charset="0"/>
              <a:buChar char="•"/>
            </a:pPr>
            <a:r>
              <a:rPr lang="en-US" sz="2000" dirty="0"/>
              <a:t>From Jan 21 to Jun 30 of 2024 and 2025, average funding per award (inflation-adjusted) is not significantly different (two-sample t-test with unequal variances, p = 0.9996).</a:t>
            </a:r>
          </a:p>
          <a:p>
            <a:pPr marL="285750" indent="-285750">
              <a:buFont typeface="Arial" panose="020B0604020202020204" pitchFamily="34" charset="0"/>
              <a:buChar char="•"/>
            </a:pPr>
            <a:r>
              <a:rPr lang="en-US" sz="2000" dirty="0"/>
              <a:t>For only the first two months:</a:t>
            </a:r>
          </a:p>
          <a:p>
            <a:pPr marL="742950" lvl="1" indent="-285750">
              <a:buFont typeface="Arial" panose="020B0604020202020204" pitchFamily="34" charset="0"/>
              <a:buChar char="•"/>
            </a:pPr>
            <a:r>
              <a:rPr lang="en-US" sz="2000" dirty="0"/>
              <a:t>2025 mean: $366,197.94</a:t>
            </a:r>
          </a:p>
          <a:p>
            <a:pPr marL="742950" lvl="1" indent="-285750">
              <a:buFont typeface="Arial" panose="020B0604020202020204" pitchFamily="34" charset="0"/>
              <a:buChar char="•"/>
            </a:pPr>
            <a:r>
              <a:rPr lang="en-US" sz="2000" dirty="0"/>
              <a:t>2024 mean: $545,383.90</a:t>
            </a:r>
          </a:p>
          <a:p>
            <a:pPr marL="742950" lvl="1" indent="-285750">
              <a:buFont typeface="Arial" panose="020B0604020202020204" pitchFamily="34" charset="0"/>
              <a:buChar char="•"/>
            </a:pPr>
            <a:r>
              <a:rPr lang="en-US" sz="2000" dirty="0"/>
              <a:t>Difference is statistically significant (p = 0.0001).</a:t>
            </a:r>
          </a:p>
          <a:p>
            <a:pPr marL="285750" indent="-285750">
              <a:buFont typeface="Arial" panose="020B0604020202020204" pitchFamily="34" charset="0"/>
              <a:buChar char="•"/>
            </a:pPr>
            <a:r>
              <a:rPr lang="en-US" sz="2000" dirty="0"/>
              <a:t>Indicates Trump administration actions were swift and strong early in the year, but stabilized over the first six months.</a:t>
            </a:r>
          </a:p>
          <a:p>
            <a:endParaRPr lang="en-US" sz="1000" b="1" dirty="0"/>
          </a:p>
          <a:p>
            <a:r>
              <a:rPr lang="en-US" sz="3000" b="1" dirty="0"/>
              <a:t>Terminated Awards</a:t>
            </a:r>
          </a:p>
          <a:p>
            <a:pPr marL="285750" indent="-285750">
              <a:buFont typeface="Arial" panose="020B0604020202020204" pitchFamily="34" charset="0"/>
              <a:buChar char="•"/>
            </a:pPr>
            <a:r>
              <a:rPr lang="en-US" sz="2000" dirty="0"/>
              <a:t>1,667 awards were cancelled when the Trump administration took office, totaling $1.3 billion in NSF-funded research.</a:t>
            </a:r>
          </a:p>
          <a:p>
            <a:pPr marL="285750" indent="-285750">
              <a:buFont typeface="Arial" panose="020B0604020202020204" pitchFamily="34" charset="0"/>
              <a:buChar char="•"/>
            </a:pPr>
            <a:r>
              <a:rPr lang="en-US" sz="2000" dirty="0"/>
              <a:t>Between Jan 21 and Jun 30 of 2025, $23.4 billion in total awards were given, so cancellations represent a significant portion.</a:t>
            </a:r>
          </a:p>
          <a:p>
            <a:pPr marL="285750" indent="-285750">
              <a:buFont typeface="Arial" panose="020B0604020202020204" pitchFamily="34" charset="0"/>
              <a:buChar char="•"/>
            </a:pPr>
            <a:r>
              <a:rPr lang="en-US" sz="2000" dirty="0"/>
              <a:t>Cancelled awards were deemed “not aligned with program goals or agency priorities,” especially in:</a:t>
            </a:r>
          </a:p>
          <a:p>
            <a:pPr marL="742950" lvl="1" indent="-285750">
              <a:buFont typeface="Arial" panose="020B0604020202020204" pitchFamily="34" charset="0"/>
              <a:buChar char="•"/>
            </a:pPr>
            <a:r>
              <a:rPr lang="en-US" sz="2000" dirty="0"/>
              <a:t>DEI</a:t>
            </a:r>
          </a:p>
          <a:p>
            <a:pPr marL="742950" lvl="1" indent="-285750">
              <a:buFont typeface="Arial" panose="020B0604020202020204" pitchFamily="34" charset="0"/>
              <a:buChar char="•"/>
            </a:pPr>
            <a:r>
              <a:rPr lang="en-US" sz="2000" dirty="0"/>
              <a:t>Environmental justice</a:t>
            </a:r>
          </a:p>
          <a:p>
            <a:pPr marL="742950" lvl="1" indent="-285750">
              <a:buFont typeface="Arial" panose="020B0604020202020204" pitchFamily="34" charset="0"/>
              <a:buChar char="•"/>
            </a:pPr>
            <a:r>
              <a:rPr lang="en-US" sz="2000" dirty="0"/>
              <a:t>Misinformation and disinformation</a:t>
            </a:r>
          </a:p>
          <a:p>
            <a:pPr marL="285750" indent="-285750">
              <a:buFont typeface="Arial" panose="020B0604020202020204" pitchFamily="34" charset="0"/>
              <a:buChar char="•"/>
            </a:pPr>
            <a:r>
              <a:rPr lang="en-US" sz="2000" dirty="0"/>
              <a:t>Cancelled award types included:</a:t>
            </a:r>
          </a:p>
          <a:p>
            <a:pPr marL="742950" lvl="1" indent="-285750">
              <a:buFont typeface="Arial" panose="020B0604020202020204" pitchFamily="34" charset="0"/>
              <a:buChar char="•"/>
            </a:pPr>
            <a:r>
              <a:rPr lang="en-US" sz="2000" dirty="0"/>
              <a:t>22 REU programs</a:t>
            </a:r>
          </a:p>
          <a:p>
            <a:pPr marL="742950" lvl="1" indent="-285750">
              <a:buFont typeface="Arial" panose="020B0604020202020204" pitchFamily="34" charset="0"/>
              <a:buChar char="•"/>
            </a:pPr>
            <a:r>
              <a:rPr lang="en-US" sz="2000" dirty="0"/>
              <a:t>191 NSF Career awards</a:t>
            </a:r>
          </a:p>
          <a:p>
            <a:pPr marL="742950" lvl="1" indent="-285750">
              <a:buFont typeface="Arial" panose="020B0604020202020204" pitchFamily="34" charset="0"/>
              <a:buChar char="•"/>
            </a:pPr>
            <a:r>
              <a:rPr lang="en-US" sz="2000" dirty="0"/>
              <a:t>18 fellowships</a:t>
            </a:r>
          </a:p>
          <a:p>
            <a:pPr marL="742950" lvl="1" indent="-285750">
              <a:buFont typeface="Arial" panose="020B0604020202020204" pitchFamily="34" charset="0"/>
              <a:buChar char="•"/>
            </a:pPr>
            <a:r>
              <a:rPr lang="en-US" sz="2000" dirty="0"/>
              <a:t>65 conferences</a:t>
            </a:r>
          </a:p>
          <a:p>
            <a:endParaRPr lang="en-US" sz="1000" b="1" dirty="0"/>
          </a:p>
          <a:p>
            <a:r>
              <a:rPr lang="en-US" sz="3000" b="1" dirty="0"/>
              <a:t>Education</a:t>
            </a:r>
          </a:p>
          <a:p>
            <a:pPr marL="285750" indent="-285750">
              <a:buFont typeface="Arial" panose="020B0604020202020204" pitchFamily="34" charset="0"/>
              <a:buChar char="•"/>
            </a:pPr>
            <a:r>
              <a:rPr lang="en-US" dirty="0"/>
              <a:t>The Trump administration claims support for education but has significantly reduced NSF education spending.</a:t>
            </a:r>
          </a:p>
          <a:p>
            <a:pPr marL="285750" indent="-285750">
              <a:buFont typeface="Arial" panose="020B0604020202020204" pitchFamily="34" charset="0"/>
              <a:buChar char="•"/>
            </a:pPr>
            <a:r>
              <a:rPr lang="en-US" dirty="0"/>
              <a:t>The NSF Education Directorate is now at its lowest funding level across the 10 years of data.</a:t>
            </a:r>
          </a:p>
          <a:p>
            <a:pPr marL="285750" indent="-285750">
              <a:buFont typeface="Arial" panose="020B0604020202020204" pitchFamily="34" charset="0"/>
              <a:buChar char="•"/>
            </a:pPr>
            <a:r>
              <a:rPr lang="en-US" dirty="0"/>
              <a:t>From 2024 to 2025, the directorate saw a 29.4% decrease in funding, representing a $73.4 million cut.</a:t>
            </a:r>
          </a:p>
          <a:p>
            <a:endParaRPr lang="en-US" sz="3000" dirty="0"/>
          </a:p>
          <a:p>
            <a:endParaRPr lang="en-US" sz="3000" dirty="0"/>
          </a:p>
          <a:p>
            <a:endParaRPr lang="en-US" sz="3000" dirty="0"/>
          </a:p>
          <a:p>
            <a:endParaRPr lang="en-US" sz="3000" dirty="0"/>
          </a:p>
          <a:p>
            <a:endParaRPr lang="en-US" sz="3000" dirty="0"/>
          </a:p>
          <a:p>
            <a:endParaRPr lang="en-US" sz="3000" dirty="0"/>
          </a:p>
        </p:txBody>
      </p:sp>
      <p:sp>
        <p:nvSpPr>
          <p:cNvPr id="1060" name="TextBox 1059">
            <a:extLst>
              <a:ext uri="{FF2B5EF4-FFF2-40B4-BE49-F238E27FC236}">
                <a16:creationId xmlns:a16="http://schemas.microsoft.com/office/drawing/2014/main" id="{4D262FCE-EBD7-C282-24B4-65498A193503}"/>
              </a:ext>
            </a:extLst>
          </p:cNvPr>
          <p:cNvSpPr txBox="1"/>
          <p:nvPr/>
        </p:nvSpPr>
        <p:spPr>
          <a:xfrm>
            <a:off x="619807" y="6275646"/>
            <a:ext cx="10091736" cy="10402848"/>
          </a:xfrm>
          <a:prstGeom prst="rect">
            <a:avLst/>
          </a:prstGeom>
          <a:noFill/>
        </p:spPr>
        <p:txBody>
          <a:bodyPr wrap="square" rtlCol="0">
            <a:spAutoFit/>
          </a:bodyPr>
          <a:lstStyle/>
          <a:p>
            <a:r>
              <a:rPr lang="en-US" sz="2500" dirty="0"/>
              <a:t>In early 2025, the Trump administration announced sweeping changes to the National Science Foundation (NSF), reshaping funding priorities and research eligibility criteria. A newly released NSF statement clarified that research proposals should avoid narrowly targeting specific demographic groups or prioritizing protected characteristics unless directly aligned with agency goals. This guidance, while framed as a re-emphasis on "Intellectual Merit" and "Broader Impacts," marked a clear departure from the equity-focused direction the agency had taken in recent years.</a:t>
            </a:r>
          </a:p>
          <a:p>
            <a:endParaRPr lang="en-US" sz="1000" dirty="0"/>
          </a:p>
          <a:p>
            <a:r>
              <a:rPr lang="en-US" sz="2500" dirty="0"/>
              <a:t>Shortly after taking office, the administration canceled over 1,600 awards, many tied to diversity, equity, inclusion (DEI), environmental justice, and disinformation-related projects. This signaled a rapid realignment of research priorities. The NSF's Education Directorate, in particular, was heavily impacted, experiencing a 29.4% year-over-year reduction in funding. Public-facing language also shifted, as the agency dissuaded researchers from focusing proposals on subgroups or protected identities, and downplayed broadening participation efforts that previously served as pillars of NSF-funded work.</a:t>
            </a:r>
          </a:p>
          <a:p>
            <a:endParaRPr lang="en-US" sz="1000" dirty="0"/>
          </a:p>
          <a:p>
            <a:r>
              <a:rPr lang="en-US" sz="2500" dirty="0"/>
              <a:t>In response to these changes, this project investigates how NSF funding patterns and research content have evolved during the first six months of 2025. By analyzing award data, abstract text, and keyword usage, I assess whether these administrative priorities are reflected in real-world funding decisions and research trends. Through statistical testing, lexical analysis, and content-based metrics, the project evaluates both the magnitude and the timing of changes, revealing how shifts in political leadership reshape the scientific landscape in the United States.</a:t>
            </a:r>
          </a:p>
        </p:txBody>
      </p:sp>
      <p:sp>
        <p:nvSpPr>
          <p:cNvPr id="1061" name="TextBox 1060">
            <a:extLst>
              <a:ext uri="{FF2B5EF4-FFF2-40B4-BE49-F238E27FC236}">
                <a16:creationId xmlns:a16="http://schemas.microsoft.com/office/drawing/2014/main" id="{FF338A61-F79C-CBDA-586D-A70593DCE414}"/>
              </a:ext>
            </a:extLst>
          </p:cNvPr>
          <p:cNvSpPr txBox="1"/>
          <p:nvPr/>
        </p:nvSpPr>
        <p:spPr>
          <a:xfrm>
            <a:off x="11410457" y="22372752"/>
            <a:ext cx="10732978" cy="3339376"/>
          </a:xfrm>
          <a:prstGeom prst="rect">
            <a:avLst/>
          </a:prstGeom>
          <a:noFill/>
        </p:spPr>
        <p:txBody>
          <a:bodyPr wrap="square" rtlCol="0">
            <a:spAutoFit/>
          </a:bodyPr>
          <a:lstStyle/>
          <a:p>
            <a:r>
              <a:rPr lang="en-US" sz="2500" dirty="0"/>
              <a:t>The “list of banned words” was not particular to the NSF, and more so refers to guidance given to federal agencies to be removed from their websites and other public-facing materials. However, it also reflects changes in language in abstracts, along with change in the content of research. Researchers know that they should not be including words that could alert the NSF to topics they may want to study, and researchers who want to very explicitly study topics related to DEI may not apply for NSF funding altogether.</a:t>
            </a:r>
          </a:p>
          <a:p>
            <a:br>
              <a:rPr lang="en-US" dirty="0"/>
            </a:br>
            <a:endParaRPr lang="en-US" dirty="0"/>
          </a:p>
        </p:txBody>
      </p:sp>
      <p:sp>
        <p:nvSpPr>
          <p:cNvPr id="1062" name="TextBox 1061">
            <a:extLst>
              <a:ext uri="{FF2B5EF4-FFF2-40B4-BE49-F238E27FC236}">
                <a16:creationId xmlns:a16="http://schemas.microsoft.com/office/drawing/2014/main" id="{8F2B0FF9-BF1D-85E3-682B-D22E7E3BDACC}"/>
              </a:ext>
            </a:extLst>
          </p:cNvPr>
          <p:cNvSpPr txBox="1"/>
          <p:nvPr/>
        </p:nvSpPr>
        <p:spPr>
          <a:xfrm>
            <a:off x="22315284" y="26052858"/>
            <a:ext cx="9284473" cy="6632585"/>
          </a:xfrm>
          <a:prstGeom prst="rect">
            <a:avLst/>
          </a:prstGeom>
          <a:noFill/>
        </p:spPr>
        <p:txBody>
          <a:bodyPr wrap="square" rtlCol="0">
            <a:spAutoFit/>
          </a:bodyPr>
          <a:lstStyle/>
          <a:p>
            <a:r>
              <a:rPr lang="en-US" sz="2500" dirty="0"/>
              <a:t>The New York Times compiled a list of 197 words or phrases that the Trump administration has, at different times and by different people and agencies, instructed their outright prohibition or cautious use. From 2024 to 2025, there was 61.7 percent reduction in the presence of these words across abstracts. Out of the 197 banned words, 101 appeared in at least one NSF abstract across the 10 years of data. </a:t>
            </a:r>
          </a:p>
          <a:p>
            <a:br>
              <a:rPr lang="en-US" sz="2500" dirty="0"/>
            </a:br>
            <a:r>
              <a:rPr lang="en-US" sz="2500" dirty="0"/>
              <a:t>Between 2016 and 2024, these words make up only an average 0.4% of all words in the abstracts for each year. From 2024 to 2025, there was a nearly 62% decrease in the usage of these words, and these words and phrases make up only 0.19%. Another way to think about it is that from 2024 to 2025, banned word frequency decreased by 302.48 per 100,000 words.</a:t>
            </a:r>
          </a:p>
          <a:p>
            <a:br>
              <a:rPr lang="en-US" sz="2500" dirty="0"/>
            </a:br>
            <a:endParaRPr lang="en-US" sz="2500" dirty="0"/>
          </a:p>
          <a:p>
            <a:endParaRPr lang="en-US" sz="2500" dirty="0"/>
          </a:p>
        </p:txBody>
      </p:sp>
      <p:sp>
        <p:nvSpPr>
          <p:cNvPr id="1063" name="TextBox 1062">
            <a:extLst>
              <a:ext uri="{FF2B5EF4-FFF2-40B4-BE49-F238E27FC236}">
                <a16:creationId xmlns:a16="http://schemas.microsoft.com/office/drawing/2014/main" id="{996277AD-8B73-B60C-BF76-360B75AD31FC}"/>
              </a:ext>
            </a:extLst>
          </p:cNvPr>
          <p:cNvSpPr txBox="1"/>
          <p:nvPr/>
        </p:nvSpPr>
        <p:spPr>
          <a:xfrm>
            <a:off x="32480743" y="6354953"/>
            <a:ext cx="10827589" cy="21098083"/>
          </a:xfrm>
          <a:prstGeom prst="rect">
            <a:avLst/>
          </a:prstGeom>
          <a:noFill/>
        </p:spPr>
        <p:txBody>
          <a:bodyPr wrap="square" rtlCol="0">
            <a:spAutoFit/>
          </a:bodyPr>
          <a:lstStyle/>
          <a:p>
            <a:r>
              <a:rPr lang="en-US" sz="3000" b="1" dirty="0"/>
              <a:t>Inferences</a:t>
            </a:r>
          </a:p>
          <a:p>
            <a:endParaRPr lang="en-US" sz="500" b="1" dirty="0"/>
          </a:p>
          <a:p>
            <a:r>
              <a:rPr lang="en-US" sz="2500" b="1" i="1" dirty="0">
                <a:solidFill>
                  <a:schemeClr val="accent5">
                    <a:lumMod val="75000"/>
                  </a:schemeClr>
                </a:solidFill>
              </a:rPr>
              <a:t>1. The Trump administration is realigning the NSF’s funding priorities to exclude DEI, environmental justice, as well as dismantling federal support for education.</a:t>
            </a:r>
          </a:p>
          <a:p>
            <a:br>
              <a:rPr lang="en-US" sz="1000" dirty="0"/>
            </a:br>
            <a:r>
              <a:rPr lang="en-US" sz="2500" dirty="0"/>
              <a:t>The scale and focus of these lexical shifts suggest deliberate changes in funding priorities, aligning with policy directives to curtail support for DEI initiatives and similar programs across federal agencies. These findings reinforce the administration’s broader ideological commitment to reducing the role of the federal government in promoting social equity through science funding.</a:t>
            </a:r>
            <a:br>
              <a:rPr lang="en-US" sz="2500" dirty="0"/>
            </a:br>
            <a:br>
              <a:rPr lang="en-US" sz="1000" b="1" dirty="0"/>
            </a:br>
            <a:r>
              <a:rPr lang="en-US" sz="2500" b="1" dirty="0">
                <a:solidFill>
                  <a:schemeClr val="accent5">
                    <a:lumMod val="75000"/>
                  </a:schemeClr>
                </a:solidFill>
              </a:rPr>
              <a:t>2. </a:t>
            </a:r>
            <a:r>
              <a:rPr lang="en-US" sz="2500" b="1" i="1" dirty="0">
                <a:solidFill>
                  <a:schemeClr val="accent5">
                    <a:lumMod val="75000"/>
                  </a:schemeClr>
                </a:solidFill>
              </a:rPr>
              <a:t>Changes to NSF awards in the beginning of the year strongly targeted DEI and reduced funding.</a:t>
            </a:r>
          </a:p>
          <a:p>
            <a:br>
              <a:rPr lang="en-US" sz="2500" dirty="0"/>
            </a:br>
            <a:r>
              <a:rPr lang="en-US" sz="2500" dirty="0"/>
              <a:t>When analyzing only the first two months of 2025, there is a statistically significant drop in the average award amount compared to the same period in 2024 (p = 0.0001), as well as a clear spike in cosine distance between years. This signals a swift disruption in the types of research funded. The early months of the year also saw a concentration of the most severe TF-IDF reductions in DEI-related terms. These findings indicate that the most aggressive cuts and topic shifts occurred early in the administration, suggesting that budget cuts and priority shifts were stronger earlier.</a:t>
            </a:r>
          </a:p>
          <a:p>
            <a:br>
              <a:rPr lang="en-US" sz="1000" b="1" dirty="0"/>
            </a:br>
            <a:r>
              <a:rPr lang="en-US" sz="2500" b="1" dirty="0">
                <a:solidFill>
                  <a:schemeClr val="accent5">
                    <a:lumMod val="75000"/>
                  </a:schemeClr>
                </a:solidFill>
              </a:rPr>
              <a:t>3. </a:t>
            </a:r>
            <a:r>
              <a:rPr lang="en-US" sz="2500" b="1" i="1" dirty="0">
                <a:solidFill>
                  <a:schemeClr val="accent5">
                    <a:lumMod val="75000"/>
                  </a:schemeClr>
                </a:solidFill>
              </a:rPr>
              <a:t>The NSFs research priorities and funding have somewhat stabilized across the year.</a:t>
            </a:r>
          </a:p>
          <a:p>
            <a:br>
              <a:rPr lang="en-US" sz="2500" dirty="0"/>
            </a:br>
            <a:r>
              <a:rPr lang="en-US" sz="2500" dirty="0"/>
              <a:t>While the first two months of 2025 show marked changes, analyses over the full six-month period reveal a return to statistical similarity in average award amounts and a dampening of cosine distance. The effect size and count of significantly decreased terms also drop when expanding the window from two to six months. The Trump administration’s policy shift appears to have exerted its strongest influence early on, before settling into a new, but less volatile, research funding landscape for the remainder of the year.</a:t>
            </a:r>
          </a:p>
          <a:p>
            <a:br>
              <a:rPr lang="en-US" sz="1000" dirty="0"/>
            </a:br>
            <a:r>
              <a:rPr lang="en-US" sz="3000" b="1" dirty="0"/>
              <a:t>Future Research</a:t>
            </a:r>
          </a:p>
          <a:p>
            <a:endParaRPr lang="en-US" sz="500" b="1" dirty="0"/>
          </a:p>
          <a:p>
            <a:pPr fontAlgn="base"/>
            <a:r>
              <a:rPr lang="en-US" sz="2500" b="1" i="1" dirty="0">
                <a:solidFill>
                  <a:schemeClr val="accent5">
                    <a:lumMod val="75000"/>
                  </a:schemeClr>
                </a:solidFill>
              </a:rPr>
              <a:t>1. Is pushback working?</a:t>
            </a:r>
          </a:p>
          <a:p>
            <a:br>
              <a:rPr lang="en-US" sz="1000" dirty="0"/>
            </a:br>
            <a:r>
              <a:rPr lang="en-US" sz="2500" dirty="0"/>
              <a:t>One critical question is whether the research community is resisting or adapting to the administration's new priorities. Future studies could examine whether proposals in historically marginalized research areas are being reframed, or if submission rates for DEI-related topics have dropped altogether. Tracking trends in proposal volume and acceptance rates by topic over time could help determine whether scientists are pushing back through persistence or strategic compliance</a:t>
            </a:r>
          </a:p>
          <a:p>
            <a:br>
              <a:rPr lang="en-US" sz="1000" b="1" dirty="0">
                <a:solidFill>
                  <a:schemeClr val="accent5">
                    <a:lumMod val="75000"/>
                  </a:schemeClr>
                </a:solidFill>
              </a:rPr>
            </a:br>
            <a:r>
              <a:rPr lang="en-US" sz="2500" b="1" dirty="0">
                <a:solidFill>
                  <a:schemeClr val="accent5">
                    <a:lumMod val="75000"/>
                  </a:schemeClr>
                </a:solidFill>
              </a:rPr>
              <a:t>2. </a:t>
            </a:r>
            <a:r>
              <a:rPr lang="en-US" sz="2500" b="1" i="1" dirty="0">
                <a:solidFill>
                  <a:schemeClr val="accent5">
                    <a:lumMod val="75000"/>
                  </a:schemeClr>
                </a:solidFill>
              </a:rPr>
              <a:t>How much of these changes are true differences in research priorities versus researchers adjust the language they use in award applications?</a:t>
            </a:r>
          </a:p>
          <a:p>
            <a:br>
              <a:rPr lang="en-US" sz="1000" dirty="0"/>
            </a:br>
            <a:r>
              <a:rPr lang="en-US" sz="2500" dirty="0"/>
              <a:t>The sharp drop in DEI-related language may not solely reflect a change in research topics but could also indicate a strategic rhetorical shift. Researchers may still be pursuing similar lines of inquiry but are omitting terms like “equity,” “underrepresented,” or “inclusion” to avoid detection or rejection. A limitation of this data is that it does not include rejected grant proposals. Disentangling actual research content from rhetorical adaptation is crucial. Future work might involve comparing submitted proposals (where available) to published papers or funded project summaries to identify whether topic continuity persists beneath surface-level language changes.</a:t>
            </a:r>
            <a:endParaRPr lang="en-US" sz="2500" b="1" dirty="0"/>
          </a:p>
        </p:txBody>
      </p:sp>
    </p:spTree>
    <p:extLst>
      <p:ext uri="{BB962C8B-B14F-4D97-AF65-F5344CB8AC3E}">
        <p14:creationId xmlns:p14="http://schemas.microsoft.com/office/powerpoint/2010/main" val="41708883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4173</TotalTime>
  <Words>1897</Words>
  <Application>Microsoft Macintosh PowerPoint</Application>
  <PresentationFormat>Custom</PresentationFormat>
  <Paragraphs>80</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Patrick Seely</dc:creator>
  <cp:lastModifiedBy>Ryan Patrick Seely</cp:lastModifiedBy>
  <cp:revision>5</cp:revision>
  <dcterms:created xsi:type="dcterms:W3CDTF">2025-08-03T19:39:39Z</dcterms:created>
  <dcterms:modified xsi:type="dcterms:W3CDTF">2025-08-06T17:13:06Z</dcterms:modified>
</cp:coreProperties>
</file>